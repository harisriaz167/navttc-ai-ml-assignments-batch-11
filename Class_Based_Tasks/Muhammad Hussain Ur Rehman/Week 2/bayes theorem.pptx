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3978-37DB-4755-A565-9F88E8269458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A7728-875F-4926-A170-892854FA8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11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7728-875F-4926-A170-892854FA8D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2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101C-3C04-168B-CB7F-6C2DE28EA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259CF-FB4B-7675-BB54-A07BF14C8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F8BE-3798-2902-A964-99247977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DEBB4-420C-4855-02F1-01E00F0B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064FB-8F4D-74FF-C8BE-EE09F385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41A0-7B23-C20C-A09F-A5B80063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7AA8-B6FA-53B3-62AB-6DE2D6C8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E10C0-DCD2-3B04-AEE6-4EE0C9EE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3BE41-7B0E-DAE3-AC56-66F21321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7BDD-42D2-9E16-7D26-3C46AA10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0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E9F3-DD8D-9134-61C7-9BC6B305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8BCE4-86C8-756B-5C4E-DAB779812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7F4D6-A84C-EFCB-10CA-FB09B889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79D54-D073-F16B-6DE0-04E428EF2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B5CA-C42C-DA5E-8102-B12E45DE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02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DE41-0DEB-44A0-38B8-69E76264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8B727-C656-544C-E0F8-B48E38A19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40CDA-270D-D397-1B5E-C88D39BCD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11267-07EC-B4FE-72D6-67701589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8B8FA-74A8-5CAB-DE2A-53E1C2EA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217B2-2FB5-50CF-98B9-430BF01E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8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90C4-FBAC-8FA9-F628-4214CB66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F1A32-055E-882C-2A86-162A5BC08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BE71E-2415-C9C7-E192-34E377DC3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B672A-F9BA-21E7-D22B-E8A397C69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12876-C04C-6E47-4578-097B09445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DCB06-185F-4921-9381-48F5EECE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60C9C-9F9B-9FC7-3AC7-448CF413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17430-1C23-64AC-C6A3-9C243A9E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9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3130-AACB-86F5-2540-CB08C739D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04DEEC-5011-4166-DF13-CCE5FB50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7E416-B135-5805-FDE8-314BC8ED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B0F9E-35C6-7028-8A8F-74BCFE46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52197-7E1B-ED6A-ACC9-66FD3A32C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2E6BB-FA6C-C159-C014-8863D8B1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E9AEF-8BF4-3657-6A40-CE93AC22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79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B1A9-0716-4BD3-85F7-3BC1E1A5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51BD2-37F8-D393-3D31-E0E18FDD6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5E344-F17D-1F19-2768-01EA9141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8F58E-F7CC-B074-4713-AF725C21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6B6F0-74B2-483E-CD65-B48B2761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E0D16-6A9E-CE9D-50EB-C0A6E2AD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46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0922-6F7E-321B-7BA2-A6A0F235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182EE-BEAA-026B-393B-3AB0DA25A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5EC2D-6A85-4542-6840-14159758D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7AAEE-0B3D-1975-28DC-0BA93069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6B42-B69B-F294-BEE2-DC5CB61C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19AA1-0D13-2DF3-7C5D-894FD8C1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9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A295-2E74-E662-E6E5-5AF93F4E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EF243-AF83-C947-CC56-ABC7E6293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E064-87D1-01BE-16D8-F737EEC9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20DF7-30A2-6F17-6A56-EF5CDB81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D8AEB-9C1A-8C8C-29F7-48BAA9A1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4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0F86A-352B-5F09-C316-2DB37804B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E5530-9856-D9E3-14D8-9FC7CF2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6D548-5077-E991-13FB-AE13F8AB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900E-8AE2-0A41-4C60-1B530759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7615A-37BA-A006-6566-3F9F1551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2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21E68-FF98-DC94-5478-4FFD625B1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7EFB2-2EF5-A899-A22C-A2FCD90B8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EB2AE-9903-A2B4-DB1E-E984F42B6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7C108-1488-4F20-B14A-526602034067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A74B0-523B-7022-F9EB-399BEFB14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F1719-2BC1-08AB-94FC-8BB79122D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E48BC-4799-4449-9327-854AA22F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2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openxmlformats.org/officeDocument/2006/relationships/image" Target="../media/image7.sv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AF228F-B227-753D-7832-A02B9D047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0154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3C895D-948C-B4AA-5961-D87D1B1B2118}"/>
              </a:ext>
            </a:extLst>
          </p:cNvPr>
          <p:cNvSpPr/>
          <p:nvPr/>
        </p:nvSpPr>
        <p:spPr>
          <a:xfrm>
            <a:off x="6925366" y="2551837"/>
            <a:ext cx="526663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sz="6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Bayes Theorem</a:t>
            </a:r>
          </a:p>
          <a:p>
            <a:pPr algn="r"/>
            <a:r>
              <a:rPr lang="en-U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Netsol Cohort II</a:t>
            </a:r>
          </a:p>
        </p:txBody>
      </p:sp>
    </p:spTree>
    <p:extLst>
      <p:ext uri="{BB962C8B-B14F-4D97-AF65-F5344CB8AC3E}">
        <p14:creationId xmlns:p14="http://schemas.microsoft.com/office/powerpoint/2010/main" val="228982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46C92-3A0F-77A6-E6A5-38E5A6FC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9B06490-B2DC-899A-85AB-EECF47E11145}"/>
              </a:ext>
            </a:extLst>
          </p:cNvPr>
          <p:cNvSpPr txBox="1"/>
          <p:nvPr/>
        </p:nvSpPr>
        <p:spPr>
          <a:xfrm>
            <a:off x="1011677" y="0"/>
            <a:ext cx="11180323" cy="686435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BD7CC7-5277-36F5-AC69-9263FA801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91" b="97582" l="7576" r="89773">
                        <a14:foregroundMark x1="7576" y1="25605" x2="15530" y2="55761"/>
                        <a14:foregroundMark x1="70455" y1="66999" x2="38258" y2="85349"/>
                        <a14:foregroundMark x1="86742" y1="57895" x2="50379" y2="88762"/>
                        <a14:foregroundMark x1="66667" y1="81223" x2="82197" y2="72404"/>
                        <a14:foregroundMark x1="82197" y1="72404" x2="89394" y2="40683"/>
                        <a14:foregroundMark x1="89394" y1="40683" x2="61364" y2="15932"/>
                        <a14:foregroundMark x1="18182" y1="83215" x2="25000" y2="92319"/>
                        <a14:foregroundMark x1="25000" y1="92319" x2="52273" y2="94737"/>
                        <a14:foregroundMark x1="11364" y1="91750" x2="29167" y2="97866"/>
                        <a14:foregroundMark x1="29167" y1="97866" x2="30682" y2="97724"/>
                        <a14:foregroundMark x1="54545" y1="12518" x2="41667" y2="6259"/>
                        <a14:foregroundMark x1="41667" y1="6259" x2="23106" y2="4694"/>
                        <a14:foregroundMark x1="23106" y1="4694" x2="14015" y2="7539"/>
                        <a14:foregroundMark x1="35606" y1="1991" x2="10985" y2="22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350"/>
            <a:ext cx="2577465" cy="6864350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BD5C360-C205-1A78-70A1-1F52404C4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683839"/>
              </p:ext>
            </p:extLst>
          </p:nvPr>
        </p:nvGraphicFramePr>
        <p:xfrm>
          <a:off x="3169289" y="0"/>
          <a:ext cx="6237358" cy="685800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897592">
                  <a:extLst>
                    <a:ext uri="{9D8B030D-6E8A-4147-A177-3AD203B41FA5}">
                      <a16:colId xmlns:a16="http://schemas.microsoft.com/office/drawing/2014/main" val="1662099965"/>
                    </a:ext>
                  </a:extLst>
                </a:gridCol>
                <a:gridCol w="3339766">
                  <a:extLst>
                    <a:ext uri="{9D8B030D-6E8A-4147-A177-3AD203B41FA5}">
                      <a16:colId xmlns:a16="http://schemas.microsoft.com/office/drawing/2014/main" val="2232238379"/>
                    </a:ext>
                  </a:extLst>
                </a:gridCol>
              </a:tblGrid>
              <a:tr h="307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Weekday</a:t>
                      </a:r>
                      <a:endParaRPr lang="en-US" sz="1800" kern="100" dirty="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Me eat ice-cream</a:t>
                      </a:r>
                      <a:endParaRPr lang="en-US" sz="1800" kern="100" dirty="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223445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Monday</a:t>
                      </a:r>
                      <a:endParaRPr lang="en-US" sz="1400" kern="100" dirty="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585654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Tuesday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07193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Wednesday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687044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Thursday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434749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Friday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802761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Monday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792389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Tuesday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409503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Wednesday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803644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Thursday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572535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Friday</a:t>
                      </a:r>
                      <a:endParaRPr lang="en-US" sz="1400" kern="100" dirty="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166482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Monday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581660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Tuesday</a:t>
                      </a:r>
                      <a:endParaRPr lang="en-US" sz="1400" kern="100" dirty="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698087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Wednesday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129850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Thursday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492694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Friday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18209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Monday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322606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Tuesday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49830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Wednesday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762221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Thursday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766266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Friday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77638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Monday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917874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Tuesday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118416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Wednesday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253352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Thursday</a:t>
                      </a:r>
                      <a:endParaRPr lang="en-US" sz="1400" kern="10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99343"/>
                  </a:ext>
                </a:extLst>
              </a:tr>
              <a:tr h="2620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Friday</a:t>
                      </a:r>
                      <a:endParaRPr lang="en-US" sz="1400" kern="100" dirty="0"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Helvetica Neue" panose="02000503040000020004" pitchFamily="50" charset="-52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3" marR="50623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9018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8BF2FA0-3E1E-14DD-B8C3-1176919D98DF}"/>
              </a:ext>
            </a:extLst>
          </p:cNvPr>
          <p:cNvSpPr txBox="1"/>
          <p:nvPr/>
        </p:nvSpPr>
        <p:spPr>
          <a:xfrm rot="20173133">
            <a:off x="8531484" y="1519498"/>
            <a:ext cx="3481180" cy="523220"/>
          </a:xfrm>
          <a:custGeom>
            <a:avLst/>
            <a:gdLst>
              <a:gd name="csX0" fmla="*/ 0 w 3481180"/>
              <a:gd name="csY0" fmla="*/ 0 h 523220"/>
              <a:gd name="csX1" fmla="*/ 545385 w 3481180"/>
              <a:gd name="csY1" fmla="*/ 0 h 523220"/>
              <a:gd name="csX2" fmla="*/ 1195205 w 3481180"/>
              <a:gd name="csY2" fmla="*/ 0 h 523220"/>
              <a:gd name="csX3" fmla="*/ 1775402 w 3481180"/>
              <a:gd name="csY3" fmla="*/ 0 h 523220"/>
              <a:gd name="csX4" fmla="*/ 2251163 w 3481180"/>
              <a:gd name="csY4" fmla="*/ 0 h 523220"/>
              <a:gd name="csX5" fmla="*/ 2831360 w 3481180"/>
              <a:gd name="csY5" fmla="*/ 0 h 523220"/>
              <a:gd name="csX6" fmla="*/ 3481180 w 3481180"/>
              <a:gd name="csY6" fmla="*/ 0 h 523220"/>
              <a:gd name="csX7" fmla="*/ 3481180 w 3481180"/>
              <a:gd name="csY7" fmla="*/ 523220 h 523220"/>
              <a:gd name="csX8" fmla="*/ 2970607 w 3481180"/>
              <a:gd name="csY8" fmla="*/ 523220 h 523220"/>
              <a:gd name="csX9" fmla="*/ 2320787 w 3481180"/>
              <a:gd name="csY9" fmla="*/ 523220 h 523220"/>
              <a:gd name="csX10" fmla="*/ 1845025 w 3481180"/>
              <a:gd name="csY10" fmla="*/ 523220 h 523220"/>
              <a:gd name="csX11" fmla="*/ 1264829 w 3481180"/>
              <a:gd name="csY11" fmla="*/ 523220 h 523220"/>
              <a:gd name="csX12" fmla="*/ 615008 w 3481180"/>
              <a:gd name="csY12" fmla="*/ 523220 h 523220"/>
              <a:gd name="csX13" fmla="*/ 0 w 3481180"/>
              <a:gd name="csY13" fmla="*/ 523220 h 523220"/>
              <a:gd name="csX14" fmla="*/ 0 w 3481180"/>
              <a:gd name="csY14" fmla="*/ 0 h 523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81180" h="523220" fill="none" extrusionOk="0">
                <a:moveTo>
                  <a:pt x="0" y="0"/>
                </a:moveTo>
                <a:cubicBezTo>
                  <a:pt x="151151" y="-35056"/>
                  <a:pt x="278229" y="10070"/>
                  <a:pt x="545385" y="0"/>
                </a:cubicBezTo>
                <a:cubicBezTo>
                  <a:pt x="812541" y="-10070"/>
                  <a:pt x="914358" y="13307"/>
                  <a:pt x="1195205" y="0"/>
                </a:cubicBezTo>
                <a:cubicBezTo>
                  <a:pt x="1476052" y="-13307"/>
                  <a:pt x="1535639" y="68198"/>
                  <a:pt x="1775402" y="0"/>
                </a:cubicBezTo>
                <a:cubicBezTo>
                  <a:pt x="2015165" y="-68198"/>
                  <a:pt x="2111790" y="45950"/>
                  <a:pt x="2251163" y="0"/>
                </a:cubicBezTo>
                <a:cubicBezTo>
                  <a:pt x="2390536" y="-45950"/>
                  <a:pt x="2627703" y="41967"/>
                  <a:pt x="2831360" y="0"/>
                </a:cubicBezTo>
                <a:cubicBezTo>
                  <a:pt x="3035017" y="-41967"/>
                  <a:pt x="3160668" y="76862"/>
                  <a:pt x="3481180" y="0"/>
                </a:cubicBezTo>
                <a:cubicBezTo>
                  <a:pt x="3507170" y="124768"/>
                  <a:pt x="3464843" y="385657"/>
                  <a:pt x="3481180" y="523220"/>
                </a:cubicBezTo>
                <a:cubicBezTo>
                  <a:pt x="3286242" y="574223"/>
                  <a:pt x="3224158" y="494971"/>
                  <a:pt x="2970607" y="523220"/>
                </a:cubicBezTo>
                <a:cubicBezTo>
                  <a:pt x="2717056" y="551469"/>
                  <a:pt x="2594865" y="515314"/>
                  <a:pt x="2320787" y="523220"/>
                </a:cubicBezTo>
                <a:cubicBezTo>
                  <a:pt x="2046709" y="531126"/>
                  <a:pt x="2079961" y="481392"/>
                  <a:pt x="1845025" y="523220"/>
                </a:cubicBezTo>
                <a:cubicBezTo>
                  <a:pt x="1610089" y="565048"/>
                  <a:pt x="1401565" y="522252"/>
                  <a:pt x="1264829" y="523220"/>
                </a:cubicBezTo>
                <a:cubicBezTo>
                  <a:pt x="1128093" y="524188"/>
                  <a:pt x="804985" y="466139"/>
                  <a:pt x="615008" y="523220"/>
                </a:cubicBezTo>
                <a:cubicBezTo>
                  <a:pt x="425031" y="580301"/>
                  <a:pt x="205556" y="484679"/>
                  <a:pt x="0" y="523220"/>
                </a:cubicBezTo>
                <a:cubicBezTo>
                  <a:pt x="-25761" y="387184"/>
                  <a:pt x="51986" y="252948"/>
                  <a:pt x="0" y="0"/>
                </a:cubicBezTo>
                <a:close/>
              </a:path>
              <a:path w="3481180" h="523220" stroke="0" extrusionOk="0">
                <a:moveTo>
                  <a:pt x="0" y="0"/>
                </a:moveTo>
                <a:cubicBezTo>
                  <a:pt x="247148" y="-50227"/>
                  <a:pt x="346518" y="31582"/>
                  <a:pt x="510573" y="0"/>
                </a:cubicBezTo>
                <a:cubicBezTo>
                  <a:pt x="674628" y="-31582"/>
                  <a:pt x="956659" y="64836"/>
                  <a:pt x="1125582" y="0"/>
                </a:cubicBezTo>
                <a:cubicBezTo>
                  <a:pt x="1294505" y="-64836"/>
                  <a:pt x="1543616" y="24466"/>
                  <a:pt x="1670966" y="0"/>
                </a:cubicBezTo>
                <a:cubicBezTo>
                  <a:pt x="1798316" y="-24466"/>
                  <a:pt x="2104636" y="40353"/>
                  <a:pt x="2216351" y="0"/>
                </a:cubicBezTo>
                <a:cubicBezTo>
                  <a:pt x="2328066" y="-40353"/>
                  <a:pt x="2687683" y="23542"/>
                  <a:pt x="2866172" y="0"/>
                </a:cubicBezTo>
                <a:cubicBezTo>
                  <a:pt x="3044661" y="-23542"/>
                  <a:pt x="3316666" y="73149"/>
                  <a:pt x="3481180" y="0"/>
                </a:cubicBezTo>
                <a:cubicBezTo>
                  <a:pt x="3536451" y="108196"/>
                  <a:pt x="3473216" y="281766"/>
                  <a:pt x="3481180" y="523220"/>
                </a:cubicBezTo>
                <a:cubicBezTo>
                  <a:pt x="3342245" y="537022"/>
                  <a:pt x="3175626" y="475787"/>
                  <a:pt x="3005419" y="523220"/>
                </a:cubicBezTo>
                <a:cubicBezTo>
                  <a:pt x="2835212" y="570653"/>
                  <a:pt x="2583421" y="491887"/>
                  <a:pt x="2425222" y="523220"/>
                </a:cubicBezTo>
                <a:cubicBezTo>
                  <a:pt x="2267023" y="554553"/>
                  <a:pt x="1982672" y="490345"/>
                  <a:pt x="1845025" y="523220"/>
                </a:cubicBezTo>
                <a:cubicBezTo>
                  <a:pt x="1707378" y="556095"/>
                  <a:pt x="1541280" y="459325"/>
                  <a:pt x="1264829" y="523220"/>
                </a:cubicBezTo>
                <a:cubicBezTo>
                  <a:pt x="988378" y="587115"/>
                  <a:pt x="957462" y="484227"/>
                  <a:pt x="719444" y="523220"/>
                </a:cubicBezTo>
                <a:cubicBezTo>
                  <a:pt x="481426" y="562213"/>
                  <a:pt x="324046" y="442673"/>
                  <a:pt x="0" y="523220"/>
                </a:cubicBezTo>
                <a:cubicBezTo>
                  <a:pt x="-55597" y="409277"/>
                  <a:pt x="9819" y="169035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5990847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f-ZA" sz="2800" dirty="0">
                <a:latin typeface="Helvetica Neue" panose="02000503040000020004" pitchFamily="50" charset="-52"/>
              </a:rPr>
              <a:t>Dataset </a:t>
            </a:r>
            <a:r>
              <a:rPr lang="af-ZA" sz="2000" dirty="0">
                <a:latin typeface="Helvetica Neue" panose="02000503040000020004" pitchFamily="50" charset="-52"/>
              </a:rPr>
              <a:t>(25 rows)</a:t>
            </a:r>
            <a:endParaRPr lang="af-ZA" sz="2800" dirty="0">
              <a:latin typeface="Helvetica Neue" panose="0200050304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37238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8885-0A6D-8265-BC7E-3213520D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FE5529-0165-65B7-9D7B-4190A96EB482}"/>
              </a:ext>
            </a:extLst>
          </p:cNvPr>
          <p:cNvSpPr txBox="1"/>
          <p:nvPr/>
        </p:nvSpPr>
        <p:spPr>
          <a:xfrm>
            <a:off x="1011677" y="0"/>
            <a:ext cx="11180323" cy="686435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B9E581-10C1-E314-4AC2-04CB7AC637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91" b="97582" l="7576" r="89773">
                        <a14:foregroundMark x1="7576" y1="25605" x2="15530" y2="55761"/>
                        <a14:foregroundMark x1="70455" y1="66999" x2="38258" y2="85349"/>
                        <a14:foregroundMark x1="86742" y1="57895" x2="50379" y2="88762"/>
                        <a14:foregroundMark x1="66667" y1="81223" x2="82197" y2="72404"/>
                        <a14:foregroundMark x1="82197" y1="72404" x2="89394" y2="40683"/>
                        <a14:foregroundMark x1="89394" y1="40683" x2="61364" y2="15932"/>
                        <a14:foregroundMark x1="18182" y1="83215" x2="25000" y2="92319"/>
                        <a14:foregroundMark x1="25000" y1="92319" x2="52273" y2="94737"/>
                        <a14:foregroundMark x1="11364" y1="91750" x2="29167" y2="97866"/>
                        <a14:foregroundMark x1="29167" y1="97866" x2="30682" y2="97724"/>
                        <a14:foregroundMark x1="54545" y1="12518" x2="41667" y2="6259"/>
                        <a14:foregroundMark x1="41667" y1="6259" x2="23106" y2="4694"/>
                        <a14:foregroundMark x1="23106" y1="4694" x2="14015" y2="7539"/>
                        <a14:foregroundMark x1="35606" y1="1991" x2="10985" y2="22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350"/>
            <a:ext cx="2577465" cy="6864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463E6F-10ED-F285-1F5B-9A40A022B903}"/>
                  </a:ext>
                </a:extLst>
              </p:cNvPr>
              <p:cNvSpPr txBox="1"/>
              <p:nvPr/>
            </p:nvSpPr>
            <p:spPr>
              <a:xfrm>
                <a:off x="2684835" y="710119"/>
                <a:ext cx="9234791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f-ZA" sz="2800" dirty="0">
                    <a:solidFill>
                      <a:schemeClr val="bg1"/>
                    </a:solidFill>
                    <a:latin typeface="Helvetica Neue" panose="02000503040000020004" pitchFamily="50" charset="-52"/>
                  </a:rPr>
                  <a:t>What is the probabality that I will eat ice-cream at Monday ?</a:t>
                </a:r>
              </a:p>
              <a:p>
                <a:endParaRPr lang="af-ZA" sz="28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800" b="1" i="0">
                          <a:solidFill>
                            <a:schemeClr val="bg1"/>
                          </a:solidFill>
                        </a:rPr>
                        <m:t>P(</m:t>
                      </m:r>
                      <m:r>
                        <m:rPr>
                          <m:nor/>
                        </m:rPr>
                        <a:rPr lang="af-ZA" sz="2800" b="1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>
                          <a:solidFill>
                            <a:schemeClr val="bg1"/>
                          </a:solidFill>
                        </a:rPr>
                        <m:t>Yes</m:t>
                      </m:r>
                      <m:r>
                        <m:rPr>
                          <m:nor/>
                        </m:rPr>
                        <a:rPr lang="af-ZA" sz="2800" b="1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>
                          <a:solidFill>
                            <a:schemeClr val="bg1"/>
                          </a:solidFill>
                        </a:rPr>
                        <m:t>∣</m:t>
                      </m:r>
                      <m:r>
                        <m:rPr>
                          <m:nor/>
                        </m:rPr>
                        <a:rPr lang="af-ZA" sz="2800" b="1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>
                          <a:solidFill>
                            <a:schemeClr val="bg1"/>
                          </a:solidFill>
                        </a:rPr>
                        <m:t>Monday)</m:t>
                      </m:r>
                    </m:oMath>
                  </m:oMathPara>
                </a14:m>
                <a:endParaRPr lang="af-ZA" sz="2800" b="1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endParaRPr lang="af-ZA" sz="2800" b="1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r>
                  <a:rPr lang="af-ZA" dirty="0">
                    <a:solidFill>
                      <a:schemeClr val="bg1"/>
                    </a:solidFill>
                    <a:latin typeface="Helvetica Neue" panose="02000503040000020004" pitchFamily="50" charset="-52"/>
                  </a:rPr>
                  <a:t>bayes theorem: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P(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Monday</m:t>
                      </m:r>
                      <m:r>
                        <a:rPr lang="af-ZA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∣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Yes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)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x P(Yes) </m:t>
                      </m:r>
                      <m:r>
                        <a:rPr lang="af-ZA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Monday</m:t>
                      </m:r>
                      <m: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f-ZA" sz="280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endParaRPr lang="af-ZA" sz="280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P(Monday)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=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5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/25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​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=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0.20</m:t>
                      </m:r>
                    </m:oMath>
                    <m:oMath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P(Yes)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=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14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/25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​=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0.56 </m:t>
                      </m:r>
                    </m:oMath>
                    <m:oMath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P(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Monday</m:t>
                      </m:r>
                      <m:r>
                        <a:rPr lang="af-ZA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Yes)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=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2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/14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​=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0.14</m:t>
                      </m:r>
                    </m:oMath>
                  </m:oMathPara>
                </a14:m>
                <a:endParaRPr lang="af-ZA" sz="280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endParaRPr lang="af-ZA" sz="28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P(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Yes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∣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Monday)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P(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Monday</m:t>
                      </m:r>
                      <m:r>
                        <a:rPr lang="af-ZA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∣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Yes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)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x P(Yes) </m:t>
                      </m:r>
                      <m:r>
                        <a:rPr lang="af-ZA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Monday</m:t>
                      </m:r>
                      <m: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f-ZA" sz="280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463E6F-10ED-F285-1F5B-9A40A022B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35" y="710119"/>
                <a:ext cx="9234791" cy="5539978"/>
              </a:xfrm>
              <a:prstGeom prst="rect">
                <a:avLst/>
              </a:prstGeom>
              <a:blipFill>
                <a:blip r:embed="rId6"/>
                <a:stretch>
                  <a:fillRect l="-528" t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04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CD1D-8668-F53F-8354-57221251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103ED-095D-5FD7-3D9C-52580F7305D3}"/>
              </a:ext>
            </a:extLst>
          </p:cNvPr>
          <p:cNvSpPr txBox="1"/>
          <p:nvPr/>
        </p:nvSpPr>
        <p:spPr>
          <a:xfrm>
            <a:off x="1011677" y="0"/>
            <a:ext cx="11180323" cy="686435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E854B1-EC14-E86C-5177-F6BB09427F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91" b="97582" l="7576" r="89773">
                        <a14:foregroundMark x1="7576" y1="25605" x2="15530" y2="55761"/>
                        <a14:foregroundMark x1="70455" y1="66999" x2="38258" y2="85349"/>
                        <a14:foregroundMark x1="86742" y1="57895" x2="50379" y2="88762"/>
                        <a14:foregroundMark x1="66667" y1="81223" x2="82197" y2="72404"/>
                        <a14:foregroundMark x1="82197" y1="72404" x2="89394" y2="40683"/>
                        <a14:foregroundMark x1="89394" y1="40683" x2="61364" y2="15932"/>
                        <a14:foregroundMark x1="18182" y1="83215" x2="25000" y2="92319"/>
                        <a14:foregroundMark x1="25000" y1="92319" x2="52273" y2="94737"/>
                        <a14:foregroundMark x1="11364" y1="91750" x2="29167" y2="97866"/>
                        <a14:foregroundMark x1="29167" y1="97866" x2="30682" y2="97724"/>
                        <a14:foregroundMark x1="54545" y1="12518" x2="41667" y2="6259"/>
                        <a14:foregroundMark x1="41667" y1="6259" x2="23106" y2="4694"/>
                        <a14:foregroundMark x1="23106" y1="4694" x2="14015" y2="7539"/>
                        <a14:foregroundMark x1="35606" y1="1991" x2="10985" y2="22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350"/>
            <a:ext cx="2577465" cy="6864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2E234C-E0A8-4462-062E-DBA6CEA510AA}"/>
                  </a:ext>
                </a:extLst>
              </p:cNvPr>
              <p:cNvSpPr txBox="1"/>
              <p:nvPr/>
            </p:nvSpPr>
            <p:spPr>
              <a:xfrm>
                <a:off x="2684835" y="710119"/>
                <a:ext cx="9234791" cy="4338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800" i="0" smtClean="0">
                          <a:solidFill>
                            <a:schemeClr val="bg1"/>
                          </a:solidFill>
                        </a:rPr>
                        <m:t>P(</m:t>
                      </m:r>
                      <m:r>
                        <m:rPr>
                          <m:nor/>
                        </m:rPr>
                        <a:rPr lang="af-ZA" sz="2800" i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smtClean="0">
                          <a:solidFill>
                            <a:schemeClr val="bg1"/>
                          </a:solidFill>
                        </a:rPr>
                        <m:t>Yes</m:t>
                      </m:r>
                      <m:r>
                        <m:rPr>
                          <m:nor/>
                        </m:rPr>
                        <a:rPr lang="af-ZA" sz="2800" i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smtClean="0">
                          <a:solidFill>
                            <a:schemeClr val="bg1"/>
                          </a:solidFill>
                        </a:rPr>
                        <m:t>∣</m:t>
                      </m:r>
                      <m:r>
                        <m:rPr>
                          <m:nor/>
                        </m:rPr>
                        <a:rPr lang="af-ZA" sz="2800" i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smtClean="0">
                          <a:solidFill>
                            <a:schemeClr val="bg1"/>
                          </a:solidFill>
                        </a:rPr>
                        <m:t>Monday)</m:t>
                      </m:r>
                      <m:r>
                        <m:rPr>
                          <m:nor/>
                        </m:rPr>
                        <a:rPr lang="af-ZA" sz="2800" i="0" smtClean="0">
                          <a:solidFill>
                            <a:schemeClr val="bg1"/>
                          </a:solidFill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2800" i="0" smtClean="0">
                          <a:solidFill>
                            <a:schemeClr val="bg1"/>
                          </a:solidFill>
                        </a:rPr>
                        <m:t>P(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Monday</m:t>
                      </m:r>
                      <m:r>
                        <a:rPr lang="af-ZA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∣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Yes</m:t>
                      </m:r>
                      <m:r>
                        <m:rPr>
                          <m:nor/>
                        </m:rPr>
                        <a:rPr lang="en-US" sz="2800" i="0">
                          <a:solidFill>
                            <a:schemeClr val="bg1"/>
                          </a:solidFill>
                        </a:rPr>
                        <m:t>)</m:t>
                      </m:r>
                      <m:r>
                        <m:rPr>
                          <m:nor/>
                        </m:rPr>
                        <a:rPr lang="af-ZA" sz="2800" i="0">
                          <a:solidFill>
                            <a:schemeClr val="bg1"/>
                          </a:solidFill>
                        </a:rPr>
                        <m:t> x P(Yes) </m:t>
                      </m:r>
                      <m:r>
                        <a:rPr lang="af-ZA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Monday</m:t>
                      </m:r>
                      <m:r>
                        <a:rPr lang="af-ZA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f-ZA" sz="280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endParaRPr lang="af-ZA" sz="28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f-Z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0" smtClean="0">
                              <a:solidFill>
                                <a:schemeClr val="bg1"/>
                              </a:solidFill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i="0" smtClean="0">
                              <a:solidFill>
                                <a:schemeClr val="bg1"/>
                              </a:solidFill>
                            </a:rPr>
                            <m:t>0.14</m:t>
                          </m:r>
                          <m:r>
                            <m:rPr>
                              <m:nor/>
                            </m:rPr>
                            <a:rPr lang="af-ZA" sz="2800" b="0" i="0" smtClean="0">
                              <a:solidFill>
                                <a:schemeClr val="bg1"/>
                              </a:solidFill>
                            </a:rPr>
                            <m:t> x </m:t>
                          </m:r>
                          <m:r>
                            <m:rPr>
                              <m:nor/>
                            </m:rPr>
                            <a:rPr lang="en-US" sz="2800" i="0" smtClean="0">
                              <a:solidFill>
                                <a:schemeClr val="bg1"/>
                              </a:solidFill>
                            </a:rPr>
                            <m:t>0.56</m:t>
                          </m:r>
                        </m:num>
                        <m:den>
                          <m:r>
                            <a:rPr lang="af-ZA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0.20</m:t>
                          </m:r>
                        </m:den>
                      </m:f>
                    </m:oMath>
                    <m:oMath>
                      <m:r>
                        <a:rPr lang="af-Z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=0.40</m:t>
                      </m:r>
                    </m:oMath>
                    <m:oMath>
                      <m:r>
                        <a:rPr lang="af-ZA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=40% </m:t>
                      </m:r>
                    </m:oMath>
                  </m:oMathPara>
                </a14:m>
                <a:endParaRPr lang="af-ZA" sz="2800" b="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endParaRPr lang="af-ZA" sz="280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  <a:p>
                <a:pPr algn="ctr"/>
                <a:r>
                  <a:rPr lang="af-ZA" sz="2800" dirty="0">
                    <a:solidFill>
                      <a:schemeClr val="bg1"/>
                    </a:solidFill>
                    <a:latin typeface="Helvetica Neue" panose="02000503040000020004" pitchFamily="50" charset="-52"/>
                  </a:rPr>
                  <a:t>So the probability that I will eat icecream at Monday is 40%</a:t>
                </a:r>
              </a:p>
              <a:p>
                <a:endParaRPr lang="af-ZA" sz="2800" dirty="0">
                  <a:solidFill>
                    <a:schemeClr val="bg1"/>
                  </a:solidFill>
                  <a:latin typeface="Helvetica Neue" panose="02000503040000020004" pitchFamily="50" charset="-5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2E234C-E0A8-4462-062E-DBA6CEA51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35" y="710119"/>
                <a:ext cx="9234791" cy="43387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BE6910C-5F3E-D871-098A-AA0B07D005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700" y="3819807"/>
            <a:ext cx="2577465" cy="3754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1F9205-CB1B-1F79-C868-9AA4002DD2E4}"/>
              </a:ext>
            </a:extLst>
          </p:cNvPr>
          <p:cNvSpPr txBox="1"/>
          <p:nvPr/>
        </p:nvSpPr>
        <p:spPr>
          <a:xfrm rot="21182269">
            <a:off x="10796353" y="4922292"/>
            <a:ext cx="1147864" cy="707886"/>
          </a:xfrm>
          <a:prstGeom prst="rect">
            <a:avLst/>
          </a:prstGeom>
          <a:noFill/>
        </p:spPr>
        <p:txBody>
          <a:bodyPr wrap="square" rtlCol="0">
            <a:prstTxWarp prst="textCurveUp">
              <a:avLst/>
            </a:prstTxWarp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af-ZA" sz="3200" dirty="0">
                <a:ln>
                  <a:solidFill>
                    <a:srgbClr val="C00000"/>
                  </a:solidFill>
                </a:ln>
                <a:solidFill>
                  <a:srgbClr val="FF0000"/>
                </a:solidFill>
              </a:rPr>
              <a:t>40%</a:t>
            </a:r>
            <a:endParaRPr lang="en-US" sz="3200" dirty="0">
              <a:ln>
                <a:solidFill>
                  <a:srgbClr val="C000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10" name="Graphic 9" descr="Cloud with solid fill">
            <a:extLst>
              <a:ext uri="{FF2B5EF4-FFF2-40B4-BE49-F238E27FC236}">
                <a16:creationId xmlns:a16="http://schemas.microsoft.com/office/drawing/2014/main" id="{3BEFA4A9-089A-5F34-BB66-63B22CD8B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992720">
            <a:off x="11006537" y="4885915"/>
            <a:ext cx="457200" cy="457200"/>
          </a:xfrm>
          <a:prstGeom prst="rect">
            <a:avLst/>
          </a:pr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E95AC28-AB77-3B71-ADDB-7EA2566DE966}"/>
              </a:ext>
            </a:extLst>
          </p:cNvPr>
          <p:cNvSpPr/>
          <p:nvPr/>
        </p:nvSpPr>
        <p:spPr>
          <a:xfrm rot="9777457">
            <a:off x="11284085" y="5648497"/>
            <a:ext cx="272375" cy="387260"/>
          </a:xfrm>
          <a:custGeom>
            <a:avLst/>
            <a:gdLst>
              <a:gd name="csX0" fmla="*/ 0 w 272375"/>
              <a:gd name="csY0" fmla="*/ 387260 h 387260"/>
              <a:gd name="csX1" fmla="*/ 131369 w 272375"/>
              <a:gd name="csY1" fmla="*/ 0 h 387260"/>
              <a:gd name="csX2" fmla="*/ 272375 w 272375"/>
              <a:gd name="csY2" fmla="*/ 387260 h 387260"/>
              <a:gd name="csX3" fmla="*/ 0 w 272375"/>
              <a:gd name="csY3" fmla="*/ 387260 h 387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2375" h="387260" fill="none" extrusionOk="0">
                <a:moveTo>
                  <a:pt x="0" y="387260"/>
                </a:moveTo>
                <a:cubicBezTo>
                  <a:pt x="8493" y="287597"/>
                  <a:pt x="50182" y="139524"/>
                  <a:pt x="131369" y="0"/>
                </a:cubicBezTo>
                <a:cubicBezTo>
                  <a:pt x="214040" y="164376"/>
                  <a:pt x="259672" y="284350"/>
                  <a:pt x="272375" y="387260"/>
                </a:cubicBezTo>
                <a:cubicBezTo>
                  <a:pt x="233364" y="390451"/>
                  <a:pt x="118465" y="410115"/>
                  <a:pt x="0" y="387260"/>
                </a:cubicBezTo>
                <a:close/>
              </a:path>
              <a:path w="272375" h="387260" stroke="0" extrusionOk="0">
                <a:moveTo>
                  <a:pt x="0" y="387260"/>
                </a:moveTo>
                <a:cubicBezTo>
                  <a:pt x="46583" y="251885"/>
                  <a:pt x="88263" y="170390"/>
                  <a:pt x="131369" y="0"/>
                </a:cubicBezTo>
                <a:cubicBezTo>
                  <a:pt x="187676" y="191213"/>
                  <a:pt x="223205" y="186956"/>
                  <a:pt x="272375" y="387260"/>
                </a:cubicBezTo>
                <a:cubicBezTo>
                  <a:pt x="158225" y="363420"/>
                  <a:pt x="42749" y="386800"/>
                  <a:pt x="0" y="387260"/>
                </a:cubicBezTo>
                <a:close/>
              </a:path>
            </a:pathLst>
          </a:custGeom>
          <a:solidFill>
            <a:srgbClr val="FF0000"/>
          </a:solidFill>
          <a:ln>
            <a:extLst>
              <a:ext uri="{C807C97D-BFC1-408E-A445-0C87EB9F89A2}">
                <ask:lineSketchStyleProps xmlns:ask="http://schemas.microsoft.com/office/drawing/2018/sketchyshapes" sd="3364906354">
                  <a:prstGeom prst="triangle">
                    <a:avLst>
                      <a:gd name="adj" fmla="val 4823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701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206</Words>
  <Application>Microsoft Office PowerPoint</Application>
  <PresentationFormat>Widescreen</PresentationFormat>
  <Paragraphs>72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Mc114</dc:creator>
  <cp:lastModifiedBy>Mc114</cp:lastModifiedBy>
  <cp:revision>2</cp:revision>
  <dcterms:created xsi:type="dcterms:W3CDTF">2026-09-07T08:11:45Z</dcterms:created>
  <dcterms:modified xsi:type="dcterms:W3CDTF">2026-09-07T08:52:42Z</dcterms:modified>
</cp:coreProperties>
</file>