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1" r:id="rId5"/>
    <p:sldId id="265" r:id="rId6"/>
    <p:sldId id="263" r:id="rId7"/>
    <p:sldId id="268" r:id="rId8"/>
    <p:sldId id="266" r:id="rId9"/>
    <p:sldId id="267" r:id="rId10"/>
    <p:sldId id="270" r:id="rId11"/>
    <p:sldId id="269" r:id="rId12"/>
    <p:sldId id="271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635"/>
    <a:srgbClr val="9EFF29"/>
    <a:srgbClr val="C80064"/>
    <a:srgbClr val="C33A1F"/>
    <a:srgbClr val="0000CC"/>
    <a:srgbClr val="FF2549"/>
    <a:srgbClr val="007033"/>
    <a:srgbClr val="D6370C"/>
    <a:srgbClr val="1D3A00"/>
    <a:srgbClr val="FF85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-3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7703" y="1784556"/>
            <a:ext cx="8229600" cy="1688688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0328" y="3694468"/>
            <a:ext cx="8229600" cy="678426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47" y="224337"/>
            <a:ext cx="8259098" cy="763526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714" y="1312606"/>
            <a:ext cx="8246070" cy="3465870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2106" y="406537"/>
            <a:ext cx="6283782" cy="725349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9238" y="1268361"/>
            <a:ext cx="6304935" cy="3420136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692" y="271648"/>
            <a:ext cx="8093365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2131" y="1655517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131" y="2127914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7252" y="1655517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7252" y="2127914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1949" y="1895168"/>
            <a:ext cx="8192728" cy="1445337"/>
          </a:xfrm>
        </p:spPr>
        <p:txBody>
          <a:bodyPr>
            <a:normAutofit/>
          </a:bodyPr>
          <a:lstStyle/>
          <a:p>
            <a:r>
              <a:rPr lang="en-US" dirty="0"/>
              <a:t>Decision tree </a:t>
            </a:r>
            <a:br>
              <a:rPr lang="en-US" dirty="0"/>
            </a:br>
            <a:r>
              <a:rPr lang="en-US" dirty="0"/>
              <a:t>&amp; Random Forest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4575" y="3753458"/>
            <a:ext cx="8192728" cy="730043"/>
          </a:xfrm>
        </p:spPr>
        <p:txBody>
          <a:bodyPr/>
          <a:lstStyle/>
          <a:p>
            <a:r>
              <a:rPr lang="en-US" dirty="0"/>
              <a:t>NETSOL Cohort II</a:t>
            </a: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Decision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121" y="1618342"/>
            <a:ext cx="2968915" cy="346587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Root Nodes</a:t>
            </a:r>
          </a:p>
          <a:p>
            <a:r>
              <a:rPr lang="en-US" dirty="0">
                <a:solidFill>
                  <a:srgbClr val="00B0F0"/>
                </a:solidFill>
              </a:rPr>
              <a:t>Internal Node</a:t>
            </a:r>
          </a:p>
          <a:p>
            <a:r>
              <a:rPr lang="en-US" dirty="0">
                <a:solidFill>
                  <a:srgbClr val="00B050"/>
                </a:solidFill>
              </a:rPr>
              <a:t>Leaf Node</a:t>
            </a:r>
          </a:p>
          <a:p>
            <a:r>
              <a:rPr lang="en-US" dirty="0"/>
              <a:t>Entropy</a:t>
            </a:r>
          </a:p>
          <a:p>
            <a:r>
              <a:rPr lang="en-US" dirty="0"/>
              <a:t>Information gain</a:t>
            </a:r>
          </a:p>
          <a:p>
            <a:endParaRPr lang="en-US" dirty="0">
              <a:solidFill>
                <a:srgbClr val="00B05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82D73FD-A2F0-89D1-306C-DC22544F049F}"/>
              </a:ext>
            </a:extLst>
          </p:cNvPr>
          <p:cNvGrpSpPr/>
          <p:nvPr/>
        </p:nvGrpSpPr>
        <p:grpSpPr>
          <a:xfrm>
            <a:off x="297591" y="1862432"/>
            <a:ext cx="747530" cy="2024743"/>
            <a:chOff x="253212" y="1618342"/>
            <a:chExt cx="747530" cy="202474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5F737E2-8828-5B5D-9E08-89BE474E666A}"/>
                </a:ext>
              </a:extLst>
            </p:cNvPr>
            <p:cNvSpPr/>
            <p:nvPr/>
          </p:nvSpPr>
          <p:spPr>
            <a:xfrm>
              <a:off x="253212" y="1618342"/>
              <a:ext cx="747530" cy="2024743"/>
            </a:xfrm>
            <a:custGeom>
              <a:avLst/>
              <a:gdLst>
                <a:gd name="csX0" fmla="*/ 747530 w 747530"/>
                <a:gd name="csY0" fmla="*/ 2024743 h 2024743"/>
                <a:gd name="csX1" fmla="*/ 45 w 747530"/>
                <a:gd name="csY1" fmla="*/ 863600 h 2024743"/>
                <a:gd name="csX2" fmla="*/ 711245 w 747530"/>
                <a:gd name="csY2" fmla="*/ 0 h 2024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47530" h="2024743">
                  <a:moveTo>
                    <a:pt x="747530" y="2024743"/>
                  </a:moveTo>
                  <a:cubicBezTo>
                    <a:pt x="376811" y="1612900"/>
                    <a:pt x="6092" y="1201057"/>
                    <a:pt x="45" y="863600"/>
                  </a:cubicBezTo>
                  <a:cubicBezTo>
                    <a:pt x="-6002" y="526143"/>
                    <a:pt x="590293" y="55638"/>
                    <a:pt x="711245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36056F0-0EF7-ED75-AFB3-AFE4EE82E352}"/>
                </a:ext>
              </a:extLst>
            </p:cNvPr>
            <p:cNvCxnSpPr/>
            <p:nvPr/>
          </p:nvCxnSpPr>
          <p:spPr>
            <a:xfrm>
              <a:off x="769258" y="1618342"/>
              <a:ext cx="195199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902000B-97CB-7A9C-105F-31099531A7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658" y="1618342"/>
              <a:ext cx="42799" cy="15240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1529AD96-DF45-2E05-36C9-E3A0C50303C2}"/>
              </a:ext>
            </a:extLst>
          </p:cNvPr>
          <p:cNvSpPr/>
          <p:nvPr/>
        </p:nvSpPr>
        <p:spPr>
          <a:xfrm>
            <a:off x="6705224" y="1618342"/>
            <a:ext cx="377371" cy="37737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922F842-72E6-EA9D-05B7-4BC9AA99B754}"/>
              </a:ext>
            </a:extLst>
          </p:cNvPr>
          <p:cNvSpPr/>
          <p:nvPr/>
        </p:nvSpPr>
        <p:spPr>
          <a:xfrm>
            <a:off x="7765887" y="2552699"/>
            <a:ext cx="377371" cy="377371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0371431-95C0-DA80-96D1-9A757D30CB46}"/>
              </a:ext>
            </a:extLst>
          </p:cNvPr>
          <p:cNvSpPr/>
          <p:nvPr/>
        </p:nvSpPr>
        <p:spPr>
          <a:xfrm>
            <a:off x="5679086" y="2552698"/>
            <a:ext cx="377371" cy="377371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E27E046-AA55-2E06-C094-AFAE156991D1}"/>
              </a:ext>
            </a:extLst>
          </p:cNvPr>
          <p:cNvSpPr/>
          <p:nvPr/>
        </p:nvSpPr>
        <p:spPr>
          <a:xfrm>
            <a:off x="8490324" y="3454397"/>
            <a:ext cx="377371" cy="377371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91E3AB6-A3D3-F8FA-1F48-BC7C36DCB4DF}"/>
              </a:ext>
            </a:extLst>
          </p:cNvPr>
          <p:cNvSpPr/>
          <p:nvPr/>
        </p:nvSpPr>
        <p:spPr>
          <a:xfrm>
            <a:off x="7041449" y="3466256"/>
            <a:ext cx="377371" cy="377371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0E68DA5-977B-35A1-28E5-5AD832426831}"/>
              </a:ext>
            </a:extLst>
          </p:cNvPr>
          <p:cNvSpPr/>
          <p:nvPr/>
        </p:nvSpPr>
        <p:spPr>
          <a:xfrm>
            <a:off x="6372277" y="3454395"/>
            <a:ext cx="377371" cy="377371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51792F3-F5D6-0B46-60E1-FBBE9C35234C}"/>
              </a:ext>
            </a:extLst>
          </p:cNvPr>
          <p:cNvSpPr/>
          <p:nvPr/>
        </p:nvSpPr>
        <p:spPr>
          <a:xfrm>
            <a:off x="5039245" y="3454396"/>
            <a:ext cx="377371" cy="377371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12C9E4A-457F-C1BD-7AB0-658F8D1370E7}"/>
              </a:ext>
            </a:extLst>
          </p:cNvPr>
          <p:cNvCxnSpPr>
            <a:cxnSpLocks/>
            <a:stCxn id="25" idx="3"/>
            <a:endCxn id="27" idx="7"/>
          </p:cNvCxnSpPr>
          <p:nvPr/>
        </p:nvCxnSpPr>
        <p:spPr>
          <a:xfrm flipH="1">
            <a:off x="6001192" y="1940448"/>
            <a:ext cx="759297" cy="6675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89C4DD2-DFC8-4425-67C7-901E15C1F7A6}"/>
              </a:ext>
            </a:extLst>
          </p:cNvPr>
          <p:cNvCxnSpPr>
            <a:cxnSpLocks/>
            <a:stCxn id="25" idx="5"/>
            <a:endCxn id="26" idx="1"/>
          </p:cNvCxnSpPr>
          <p:nvPr/>
        </p:nvCxnSpPr>
        <p:spPr>
          <a:xfrm>
            <a:off x="7027330" y="1940448"/>
            <a:ext cx="793822" cy="66751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7393B30-1B16-B336-D627-DB52AF08B2E9}"/>
              </a:ext>
            </a:extLst>
          </p:cNvPr>
          <p:cNvCxnSpPr>
            <a:cxnSpLocks/>
            <a:stCxn id="26" idx="5"/>
            <a:endCxn id="28" idx="0"/>
          </p:cNvCxnSpPr>
          <p:nvPr/>
        </p:nvCxnSpPr>
        <p:spPr>
          <a:xfrm>
            <a:off x="8087993" y="2874805"/>
            <a:ext cx="591017" cy="579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73D8F18-9668-A214-8132-2C06290D36E6}"/>
              </a:ext>
            </a:extLst>
          </p:cNvPr>
          <p:cNvCxnSpPr>
            <a:cxnSpLocks/>
            <a:stCxn id="26" idx="3"/>
            <a:endCxn id="29" idx="0"/>
          </p:cNvCxnSpPr>
          <p:nvPr/>
        </p:nvCxnSpPr>
        <p:spPr>
          <a:xfrm flipH="1">
            <a:off x="7230135" y="2874805"/>
            <a:ext cx="591017" cy="591451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29B1D11-DB67-E55C-24A4-C5C630E7E9D8}"/>
              </a:ext>
            </a:extLst>
          </p:cNvPr>
          <p:cNvCxnSpPr>
            <a:cxnSpLocks/>
            <a:stCxn id="27" idx="5"/>
            <a:endCxn id="30" idx="0"/>
          </p:cNvCxnSpPr>
          <p:nvPr/>
        </p:nvCxnSpPr>
        <p:spPr>
          <a:xfrm>
            <a:off x="6001192" y="2874804"/>
            <a:ext cx="559771" cy="579591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F7453AA-BD1E-7366-C9A7-E269220473F8}"/>
              </a:ext>
            </a:extLst>
          </p:cNvPr>
          <p:cNvCxnSpPr>
            <a:cxnSpLocks/>
            <a:stCxn id="27" idx="3"/>
            <a:endCxn id="31" idx="0"/>
          </p:cNvCxnSpPr>
          <p:nvPr/>
        </p:nvCxnSpPr>
        <p:spPr>
          <a:xfrm flipH="1">
            <a:off x="5227931" y="2874804"/>
            <a:ext cx="506420" cy="579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13B690BE-FF9C-80E0-6FC4-F19D2A4F16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0635079"/>
              </p:ext>
            </p:extLst>
          </p:nvPr>
        </p:nvGraphicFramePr>
        <p:xfrm>
          <a:off x="2239735" y="663574"/>
          <a:ext cx="6693808" cy="43220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2918">
                  <a:extLst>
                    <a:ext uri="{9D8B030D-6E8A-4147-A177-3AD203B41FA5}">
                      <a16:colId xmlns:a16="http://schemas.microsoft.com/office/drawing/2014/main" val="1076824729"/>
                    </a:ext>
                  </a:extLst>
                </a:gridCol>
                <a:gridCol w="1187334">
                  <a:extLst>
                    <a:ext uri="{9D8B030D-6E8A-4147-A177-3AD203B41FA5}">
                      <a16:colId xmlns:a16="http://schemas.microsoft.com/office/drawing/2014/main" val="3865876850"/>
                    </a:ext>
                  </a:extLst>
                </a:gridCol>
                <a:gridCol w="1066879">
                  <a:extLst>
                    <a:ext uri="{9D8B030D-6E8A-4147-A177-3AD203B41FA5}">
                      <a16:colId xmlns:a16="http://schemas.microsoft.com/office/drawing/2014/main" val="984935674"/>
                    </a:ext>
                  </a:extLst>
                </a:gridCol>
                <a:gridCol w="998048">
                  <a:extLst>
                    <a:ext uri="{9D8B030D-6E8A-4147-A177-3AD203B41FA5}">
                      <a16:colId xmlns:a16="http://schemas.microsoft.com/office/drawing/2014/main" val="2647160749"/>
                    </a:ext>
                  </a:extLst>
                </a:gridCol>
                <a:gridCol w="1118503">
                  <a:extLst>
                    <a:ext uri="{9D8B030D-6E8A-4147-A177-3AD203B41FA5}">
                      <a16:colId xmlns:a16="http://schemas.microsoft.com/office/drawing/2014/main" val="3526421798"/>
                    </a:ext>
                  </a:extLst>
                </a:gridCol>
                <a:gridCol w="1170126">
                  <a:extLst>
                    <a:ext uri="{9D8B030D-6E8A-4147-A177-3AD203B41FA5}">
                      <a16:colId xmlns:a16="http://schemas.microsoft.com/office/drawing/2014/main" val="1853675284"/>
                    </a:ext>
                  </a:extLst>
                </a:gridCol>
              </a:tblGrid>
              <a:tr h="2881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Day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Weather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Temperature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Humidity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Wind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Play Football?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41731464"/>
                  </a:ext>
                </a:extLst>
              </a:tr>
              <a:tr h="2881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Day 1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Sunny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Hot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High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Weak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61268791"/>
                  </a:ext>
                </a:extLst>
              </a:tr>
              <a:tr h="2881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Day 2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Sunny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Hot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High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Strong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08215263"/>
                  </a:ext>
                </a:extLst>
              </a:tr>
              <a:tr h="2881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Day 3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Cloudy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Hot</a:t>
                      </a:r>
                      <a:endParaRPr lang="en-US" sz="1100" b="0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High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Weak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Yes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02469790"/>
                  </a:ext>
                </a:extLst>
              </a:tr>
              <a:tr h="2881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Day 4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Rain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Mild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High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Weak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Yes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68636458"/>
                  </a:ext>
                </a:extLst>
              </a:tr>
              <a:tr h="2881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Day 5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Rain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Cool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Normal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Weak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Yes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13485853"/>
                  </a:ext>
                </a:extLst>
              </a:tr>
              <a:tr h="2881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Day 6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Rain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Cool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Normal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Strong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95178447"/>
                  </a:ext>
                </a:extLst>
              </a:tr>
              <a:tr h="2881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Day 7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Cloudy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Cool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Normal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Strong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Yes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10190548"/>
                  </a:ext>
                </a:extLst>
              </a:tr>
              <a:tr h="2881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Day 8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Sunny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Mild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High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Weak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4807001"/>
                  </a:ext>
                </a:extLst>
              </a:tr>
              <a:tr h="2881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Day 9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Sunny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Cool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Normal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Weak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Yes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65808606"/>
                  </a:ext>
                </a:extLst>
              </a:tr>
              <a:tr h="2881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Day 10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Rain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Mild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Normal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Weak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Yes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81169778"/>
                  </a:ext>
                </a:extLst>
              </a:tr>
              <a:tr h="2881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Day 11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Sunny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Mild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Normal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Strong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Yes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13519936"/>
                  </a:ext>
                </a:extLst>
              </a:tr>
              <a:tr h="2881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Day 12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Cloudy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Mild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High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Strong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Yes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8491052"/>
                  </a:ext>
                </a:extLst>
              </a:tr>
              <a:tr h="2881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Day 13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Cloudy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Hot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Normal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Weak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Yes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11732303"/>
                  </a:ext>
                </a:extLst>
              </a:tr>
              <a:tr h="2881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Day 14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Rain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Mild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High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Strong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No</a:t>
                      </a:r>
                      <a:endParaRPr lang="en-US" sz="1100" b="0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7715040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BDFF4F1-3C43-9667-E039-CA6AEAAB2465}"/>
              </a:ext>
            </a:extLst>
          </p:cNvPr>
          <p:cNvSpPr txBox="1"/>
          <p:nvPr/>
        </p:nvSpPr>
        <p:spPr>
          <a:xfrm>
            <a:off x="2239736" y="226950"/>
            <a:ext cx="1976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A6085-332A-35AC-6B1C-F0461411B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97FA90-794E-EC12-CA68-CCED960B4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400" y="268148"/>
            <a:ext cx="6959599" cy="472821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/>
              <a:t>Calculating Information Gain (IG) of Weather</a:t>
            </a:r>
          </a:p>
          <a:p>
            <a:pPr marL="0" indent="0">
              <a:buNone/>
            </a:pPr>
            <a:r>
              <a:rPr lang="en-US" sz="2000" b="1" dirty="0"/>
              <a:t>Entropy of the entire dataset</a:t>
            </a:r>
          </a:p>
          <a:p>
            <a:pPr marL="0" indent="0">
              <a:buNone/>
            </a:pPr>
            <a:r>
              <a:rPr lang="en-US" sz="2000" dirty="0"/>
              <a:t>S(+9,-5) = -(9/14) log₂(9/14) - (5/14) log₂(5/14) = </a:t>
            </a:r>
            <a:r>
              <a:rPr lang="en-US" sz="2000" b="1" dirty="0"/>
              <a:t>0.94</a:t>
            </a:r>
          </a:p>
          <a:p>
            <a:pPr marL="0" indent="0">
              <a:buNone/>
            </a:pPr>
            <a:r>
              <a:rPr lang="en-US" sz="2000" b="1" dirty="0"/>
              <a:t>Entropy of all attribute values</a:t>
            </a:r>
          </a:p>
          <a:p>
            <a:pPr marL="0" indent="0">
              <a:buNone/>
            </a:pPr>
            <a:r>
              <a:rPr lang="en-US" sz="2000" dirty="0"/>
              <a:t>S Sunny (+2,-3) = -(2/5) log₂(2/5) - (3/5) log₂(3/5) = </a:t>
            </a:r>
            <a:r>
              <a:rPr lang="en-US" sz="2000" b="1" dirty="0"/>
              <a:t>0.97</a:t>
            </a:r>
          </a:p>
          <a:p>
            <a:pPr marL="0" indent="0">
              <a:buNone/>
            </a:pPr>
            <a:r>
              <a:rPr lang="en-US" sz="2000" dirty="0"/>
              <a:t>S Cloudy (+4,-0) = -(4/4) log₂(4/4) - (0/4) log₂(0/4) = </a:t>
            </a:r>
            <a:r>
              <a:rPr lang="en-US" sz="2000" b="1" dirty="0"/>
              <a:t>0</a:t>
            </a:r>
          </a:p>
          <a:p>
            <a:pPr marL="0" indent="0">
              <a:buNone/>
            </a:pPr>
            <a:r>
              <a:rPr lang="en-US" sz="2000" dirty="0"/>
              <a:t>S Rain (+3,-2) = -(3/5) log₂(3/5) - (2/5) log₂(2/5) = </a:t>
            </a:r>
            <a:r>
              <a:rPr lang="en-US" sz="2000" b="1" dirty="0"/>
              <a:t>0.97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Information Gain</a:t>
            </a:r>
          </a:p>
          <a:p>
            <a:pPr marL="0" indent="0">
              <a:buNone/>
            </a:pPr>
            <a:r>
              <a:rPr lang="en-US" sz="2000" dirty="0"/>
              <a:t>IG = S(whole data) - (5/14 × S(Sunny)) - (4/14 × S(Cloudy)) - (5/14 	× S(Rain))</a:t>
            </a:r>
          </a:p>
          <a:p>
            <a:pPr marL="0" indent="0">
              <a:buNone/>
            </a:pPr>
            <a:r>
              <a:rPr lang="en-US" sz="2000" dirty="0"/>
              <a:t> = 0.94 - (5/14 × 0.97) - (4/14 × 0) - (5/14 × 0.97) = </a:t>
            </a:r>
            <a:r>
              <a:rPr lang="en-US" sz="2000" dirty="0">
                <a:solidFill>
                  <a:srgbClr val="FF0000"/>
                </a:solidFill>
              </a:rPr>
              <a:t>0.247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Helvetica Neue" panose="0200050304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618023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87139-861C-25FC-E28C-8CF360526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0F6DBF-21C7-4A38-E11A-18FFBB315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400" y="268148"/>
            <a:ext cx="6959599" cy="49279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Helvetica Neue" panose="02000503040000020004" pitchFamily="50" charset="-52"/>
              </a:rPr>
              <a:t>IG Weather        = </a:t>
            </a:r>
            <a:r>
              <a:rPr lang="en-US" sz="2000" dirty="0">
                <a:solidFill>
                  <a:srgbClr val="FF0000"/>
                </a:solidFill>
                <a:latin typeface="Helvetica Neue" panose="02000503040000020004" pitchFamily="50" charset="-52"/>
              </a:rPr>
              <a:t>0.247 (Root Node)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Helvetica Neue" panose="02000503040000020004" pitchFamily="50" charset="-52"/>
              </a:rPr>
              <a:t>IG Temperature = 0.029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Helvetica Neue" panose="02000503040000020004" pitchFamily="50" charset="-52"/>
              </a:rPr>
              <a:t>IG Humidity       = 0.153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Helvetica Neue" panose="02000503040000020004" pitchFamily="50" charset="-52"/>
              </a:rPr>
              <a:t>IG Wind             = 0.047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Helvetica Neue" panose="02000503040000020004" pitchFamily="50" charset="-52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Helvetica Neue" panose="02000503040000020004" pitchFamily="50" charset="-52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Helvetica Neue" panose="02000503040000020004" pitchFamily="50" charset="-52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Helvetica Neue" panose="02000503040000020004" pitchFamily="50" charset="-52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Helvetica Neue" panose="02000503040000020004" pitchFamily="50" charset="-52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Helvetica Neue" panose="02000503040000020004" pitchFamily="50" charset="-52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Helvetica Neue" panose="02000503040000020004" pitchFamily="50" charset="-52"/>
              </a:rPr>
              <a:t>IG (sunny, temp) = 0.57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Helvetica Neue" panose="02000503040000020004" pitchFamily="50" charset="-52"/>
              </a:rPr>
              <a:t>IG (sunny, humidity) = </a:t>
            </a:r>
            <a:r>
              <a:rPr lang="en-US" sz="2000" dirty="0">
                <a:solidFill>
                  <a:srgbClr val="FF0000"/>
                </a:solidFill>
                <a:latin typeface="Helvetica Neue" panose="02000503040000020004" pitchFamily="50" charset="-52"/>
              </a:rPr>
              <a:t>0.97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Helvetica Neue" panose="02000503040000020004" pitchFamily="50" charset="-52"/>
              </a:rPr>
              <a:t>IG (sunny, wind) =  0.019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13B277-F100-37F5-DAC4-44F4155F3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729198"/>
              </p:ext>
            </p:extLst>
          </p:nvPr>
        </p:nvGraphicFramePr>
        <p:xfrm>
          <a:off x="2184400" y="1759826"/>
          <a:ext cx="644434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057">
                  <a:extLst>
                    <a:ext uri="{9D8B030D-6E8A-4147-A177-3AD203B41FA5}">
                      <a16:colId xmlns:a16="http://schemas.microsoft.com/office/drawing/2014/main" val="634682724"/>
                    </a:ext>
                  </a:extLst>
                </a:gridCol>
                <a:gridCol w="1074057">
                  <a:extLst>
                    <a:ext uri="{9D8B030D-6E8A-4147-A177-3AD203B41FA5}">
                      <a16:colId xmlns:a16="http://schemas.microsoft.com/office/drawing/2014/main" val="315526460"/>
                    </a:ext>
                  </a:extLst>
                </a:gridCol>
                <a:gridCol w="1074057">
                  <a:extLst>
                    <a:ext uri="{9D8B030D-6E8A-4147-A177-3AD203B41FA5}">
                      <a16:colId xmlns:a16="http://schemas.microsoft.com/office/drawing/2014/main" val="2129044803"/>
                    </a:ext>
                  </a:extLst>
                </a:gridCol>
                <a:gridCol w="1074057">
                  <a:extLst>
                    <a:ext uri="{9D8B030D-6E8A-4147-A177-3AD203B41FA5}">
                      <a16:colId xmlns:a16="http://schemas.microsoft.com/office/drawing/2014/main" val="4239474420"/>
                    </a:ext>
                  </a:extLst>
                </a:gridCol>
                <a:gridCol w="1074057">
                  <a:extLst>
                    <a:ext uri="{9D8B030D-6E8A-4147-A177-3AD203B41FA5}">
                      <a16:colId xmlns:a16="http://schemas.microsoft.com/office/drawing/2014/main" val="2985140144"/>
                    </a:ext>
                  </a:extLst>
                </a:gridCol>
                <a:gridCol w="1074057">
                  <a:extLst>
                    <a:ext uri="{9D8B030D-6E8A-4147-A177-3AD203B41FA5}">
                      <a16:colId xmlns:a16="http://schemas.microsoft.com/office/drawing/2014/main" val="22694277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Humidity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3672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671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411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301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086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8147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9B75F74-6F2A-FB8B-3501-478326AB4B60}"/>
              </a:ext>
            </a:extLst>
          </p:cNvPr>
          <p:cNvSpPr txBox="1"/>
          <p:nvPr/>
        </p:nvSpPr>
        <p:spPr>
          <a:xfrm>
            <a:off x="5522686" y="3984866"/>
            <a:ext cx="3106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IG (rain, temp) = 0.019</a:t>
            </a:r>
          </a:p>
          <a:p>
            <a:r>
              <a:rPr lang="en-US" dirty="0"/>
              <a:t>IG (rain, humidity)  = 0.019 </a:t>
            </a:r>
          </a:p>
          <a:p>
            <a:r>
              <a:rPr lang="en-US" dirty="0"/>
              <a:t>IG (rain, wind) = </a:t>
            </a:r>
            <a:r>
              <a:rPr lang="en-US" dirty="0">
                <a:solidFill>
                  <a:srgbClr val="FF0000"/>
                </a:solidFill>
              </a:rPr>
              <a:t>0.97</a:t>
            </a:r>
          </a:p>
        </p:txBody>
      </p:sp>
    </p:spTree>
    <p:extLst>
      <p:ext uri="{BB962C8B-B14F-4D97-AF65-F5344CB8AC3E}">
        <p14:creationId xmlns:p14="http://schemas.microsoft.com/office/powerpoint/2010/main" val="1174175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78C1B-BC08-D495-8762-F06B6B50E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B77E60-2627-2E2F-792B-ECD967AC7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2843" y="268148"/>
            <a:ext cx="6588300" cy="434739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>
              <a:latin typeface="Helvetica Neue" panose="02000503040000020004" pitchFamily="50" charset="-52"/>
            </a:endParaRPr>
          </a:p>
          <a:p>
            <a:pPr marL="0" indent="0">
              <a:buNone/>
            </a:pPr>
            <a:endParaRPr lang="en-US" sz="1400" dirty="0">
              <a:latin typeface="Helvetica Neue" panose="02000503040000020004" pitchFamily="50" charset="-52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D62215B-C537-077D-8754-BF4F30DA76CA}"/>
              </a:ext>
            </a:extLst>
          </p:cNvPr>
          <p:cNvSpPr/>
          <p:nvPr/>
        </p:nvSpPr>
        <p:spPr>
          <a:xfrm>
            <a:off x="5178564" y="268148"/>
            <a:ext cx="283029" cy="28302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A84BDA9-B143-0980-4FF5-7D1E3D414434}"/>
              </a:ext>
            </a:extLst>
          </p:cNvPr>
          <p:cNvSpPr/>
          <p:nvPr/>
        </p:nvSpPr>
        <p:spPr>
          <a:xfrm>
            <a:off x="4082142" y="1298662"/>
            <a:ext cx="283029" cy="283029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1422B20-A225-E536-1E9B-B04D111311C8}"/>
              </a:ext>
            </a:extLst>
          </p:cNvPr>
          <p:cNvSpPr/>
          <p:nvPr/>
        </p:nvSpPr>
        <p:spPr>
          <a:xfrm>
            <a:off x="5234211" y="1298660"/>
            <a:ext cx="283029" cy="283029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EB56130-F29F-5B27-386A-484F48865F55}"/>
              </a:ext>
            </a:extLst>
          </p:cNvPr>
          <p:cNvSpPr/>
          <p:nvPr/>
        </p:nvSpPr>
        <p:spPr>
          <a:xfrm>
            <a:off x="6337291" y="1298660"/>
            <a:ext cx="283029" cy="283029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56779FB-0EDA-F03B-B675-16BBA79143A7}"/>
              </a:ext>
            </a:extLst>
          </p:cNvPr>
          <p:cNvSpPr/>
          <p:nvPr/>
        </p:nvSpPr>
        <p:spPr>
          <a:xfrm>
            <a:off x="4071256" y="2288721"/>
            <a:ext cx="283029" cy="283029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54784CA-4454-CCBA-3893-70F51A7E9B58}"/>
              </a:ext>
            </a:extLst>
          </p:cNvPr>
          <p:cNvSpPr/>
          <p:nvPr/>
        </p:nvSpPr>
        <p:spPr>
          <a:xfrm>
            <a:off x="5259610" y="2300330"/>
            <a:ext cx="283029" cy="2830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7EC35A9-47D0-6058-4887-D246609887CD}"/>
              </a:ext>
            </a:extLst>
          </p:cNvPr>
          <p:cNvSpPr/>
          <p:nvPr/>
        </p:nvSpPr>
        <p:spPr>
          <a:xfrm>
            <a:off x="3271152" y="3381645"/>
            <a:ext cx="283029" cy="2830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1147BAC-46A3-FF32-8F82-0B6647648029}"/>
              </a:ext>
            </a:extLst>
          </p:cNvPr>
          <p:cNvSpPr/>
          <p:nvPr/>
        </p:nvSpPr>
        <p:spPr>
          <a:xfrm>
            <a:off x="4729837" y="3446960"/>
            <a:ext cx="283029" cy="2830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9DD9762-9F9D-A074-8B45-EA43F9315424}"/>
              </a:ext>
            </a:extLst>
          </p:cNvPr>
          <p:cNvCxnSpPr>
            <a:stCxn id="2" idx="3"/>
            <a:endCxn id="4" idx="0"/>
          </p:cNvCxnSpPr>
          <p:nvPr/>
        </p:nvCxnSpPr>
        <p:spPr>
          <a:xfrm flipH="1">
            <a:off x="4223657" y="509728"/>
            <a:ext cx="996356" cy="7889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33BD6BA-A6E6-76CF-3FCB-092DEB419FE7}"/>
              </a:ext>
            </a:extLst>
          </p:cNvPr>
          <p:cNvCxnSpPr>
            <a:cxnSpLocks/>
            <a:stCxn id="2" idx="4"/>
            <a:endCxn id="13" idx="0"/>
          </p:cNvCxnSpPr>
          <p:nvPr/>
        </p:nvCxnSpPr>
        <p:spPr>
          <a:xfrm>
            <a:off x="5320079" y="551177"/>
            <a:ext cx="55647" cy="7474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8BFDA2E-32B5-60C4-3D23-FEB08503F472}"/>
              </a:ext>
            </a:extLst>
          </p:cNvPr>
          <p:cNvCxnSpPr>
            <a:cxnSpLocks/>
            <a:stCxn id="2" idx="5"/>
            <a:endCxn id="14" idx="1"/>
          </p:cNvCxnSpPr>
          <p:nvPr/>
        </p:nvCxnSpPr>
        <p:spPr>
          <a:xfrm>
            <a:off x="5420144" y="509728"/>
            <a:ext cx="958596" cy="8303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0D4C896-A38A-1000-FFE4-BE348CD9E1C5}"/>
              </a:ext>
            </a:extLst>
          </p:cNvPr>
          <p:cNvCxnSpPr>
            <a:cxnSpLocks/>
            <a:stCxn id="4" idx="4"/>
            <a:endCxn id="15" idx="0"/>
          </p:cNvCxnSpPr>
          <p:nvPr/>
        </p:nvCxnSpPr>
        <p:spPr>
          <a:xfrm flipH="1">
            <a:off x="4212771" y="1581691"/>
            <a:ext cx="10886" cy="7070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F09B633-963D-3ACE-EDFB-BB65A8449F16}"/>
              </a:ext>
            </a:extLst>
          </p:cNvPr>
          <p:cNvCxnSpPr>
            <a:cxnSpLocks/>
            <a:stCxn id="13" idx="4"/>
            <a:endCxn id="16" idx="0"/>
          </p:cNvCxnSpPr>
          <p:nvPr/>
        </p:nvCxnSpPr>
        <p:spPr>
          <a:xfrm>
            <a:off x="5375726" y="1581689"/>
            <a:ext cx="25399" cy="71864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9404081-5847-02B8-2D4E-F9037EB225C5}"/>
              </a:ext>
            </a:extLst>
          </p:cNvPr>
          <p:cNvCxnSpPr>
            <a:cxnSpLocks/>
            <a:stCxn id="15" idx="3"/>
            <a:endCxn id="17" idx="0"/>
          </p:cNvCxnSpPr>
          <p:nvPr/>
        </p:nvCxnSpPr>
        <p:spPr>
          <a:xfrm flipH="1">
            <a:off x="3412667" y="2530301"/>
            <a:ext cx="700038" cy="8513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DE1B910-1F98-A4D5-5925-1561704397C0}"/>
              </a:ext>
            </a:extLst>
          </p:cNvPr>
          <p:cNvCxnSpPr>
            <a:cxnSpLocks/>
            <a:stCxn id="15" idx="5"/>
            <a:endCxn id="18" idx="0"/>
          </p:cNvCxnSpPr>
          <p:nvPr/>
        </p:nvCxnSpPr>
        <p:spPr>
          <a:xfrm>
            <a:off x="4312836" y="2530301"/>
            <a:ext cx="558516" cy="9166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681B17E-A68B-C549-114F-A1BEB060C50F}"/>
              </a:ext>
            </a:extLst>
          </p:cNvPr>
          <p:cNvSpPr txBox="1"/>
          <p:nvPr/>
        </p:nvSpPr>
        <p:spPr>
          <a:xfrm>
            <a:off x="5660571" y="268148"/>
            <a:ext cx="129058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Weather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CD7943F-E3E5-0A0E-BE17-9EF6B244F5CB}"/>
              </a:ext>
            </a:extLst>
          </p:cNvPr>
          <p:cNvSpPr txBox="1"/>
          <p:nvPr/>
        </p:nvSpPr>
        <p:spPr>
          <a:xfrm>
            <a:off x="5347902" y="1495386"/>
            <a:ext cx="129058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Cloudy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3E5D73-4AD1-6672-25E9-2B36029EE809}"/>
              </a:ext>
            </a:extLst>
          </p:cNvPr>
          <p:cNvSpPr txBox="1"/>
          <p:nvPr/>
        </p:nvSpPr>
        <p:spPr>
          <a:xfrm>
            <a:off x="6638488" y="1506295"/>
            <a:ext cx="129058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Rain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9E2347-3D53-C5CD-1355-890A6ADB0587}"/>
              </a:ext>
            </a:extLst>
          </p:cNvPr>
          <p:cNvSpPr txBox="1"/>
          <p:nvPr/>
        </p:nvSpPr>
        <p:spPr>
          <a:xfrm>
            <a:off x="3225323" y="1250038"/>
            <a:ext cx="129058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Sunny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8DFF6D-212F-E11B-6504-D5AAD49571B9}"/>
              </a:ext>
            </a:extLst>
          </p:cNvPr>
          <p:cNvSpPr txBox="1"/>
          <p:nvPr/>
        </p:nvSpPr>
        <p:spPr>
          <a:xfrm>
            <a:off x="5196069" y="2587769"/>
            <a:ext cx="129058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59537A-584C-6A7A-3629-0AF88FD5FDB8}"/>
              </a:ext>
            </a:extLst>
          </p:cNvPr>
          <p:cNvSpPr txBox="1"/>
          <p:nvPr/>
        </p:nvSpPr>
        <p:spPr>
          <a:xfrm>
            <a:off x="3063699" y="2188145"/>
            <a:ext cx="129058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humidity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219D86-7069-F790-63EB-A55E783D3B47}"/>
              </a:ext>
            </a:extLst>
          </p:cNvPr>
          <p:cNvSpPr txBox="1"/>
          <p:nvPr/>
        </p:nvSpPr>
        <p:spPr>
          <a:xfrm>
            <a:off x="3415661" y="2766460"/>
            <a:ext cx="129058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high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46B5E4B-C6EA-5F8D-F82F-A333F03B1763}"/>
              </a:ext>
            </a:extLst>
          </p:cNvPr>
          <p:cNvSpPr txBox="1"/>
          <p:nvPr/>
        </p:nvSpPr>
        <p:spPr>
          <a:xfrm>
            <a:off x="3117393" y="3737728"/>
            <a:ext cx="129058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121548-264B-7CE4-AFC7-7ED22E3B8B59}"/>
              </a:ext>
            </a:extLst>
          </p:cNvPr>
          <p:cNvSpPr txBox="1"/>
          <p:nvPr/>
        </p:nvSpPr>
        <p:spPr>
          <a:xfrm>
            <a:off x="4341608" y="2771883"/>
            <a:ext cx="129058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low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02BECA-5F01-0039-2E4E-7A0F2A6E9940}"/>
              </a:ext>
            </a:extLst>
          </p:cNvPr>
          <p:cNvSpPr txBox="1"/>
          <p:nvPr/>
        </p:nvSpPr>
        <p:spPr>
          <a:xfrm>
            <a:off x="4614317" y="3755245"/>
            <a:ext cx="129058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24C06E8-A2DB-4A68-C9D7-3F760DB6C876}"/>
              </a:ext>
            </a:extLst>
          </p:cNvPr>
          <p:cNvSpPr/>
          <p:nvPr/>
        </p:nvSpPr>
        <p:spPr>
          <a:xfrm>
            <a:off x="6337291" y="2315649"/>
            <a:ext cx="283029" cy="283029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FBBFEC2-C244-FA2F-3D73-332CA7E90BCE}"/>
              </a:ext>
            </a:extLst>
          </p:cNvPr>
          <p:cNvCxnSpPr>
            <a:cxnSpLocks/>
            <a:stCxn id="50" idx="0"/>
          </p:cNvCxnSpPr>
          <p:nvPr/>
        </p:nvCxnSpPr>
        <p:spPr>
          <a:xfrm flipV="1">
            <a:off x="6478806" y="1577372"/>
            <a:ext cx="7849" cy="7382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5AE39A2C-32AF-315E-761B-BED9EB63F4EE}"/>
              </a:ext>
            </a:extLst>
          </p:cNvPr>
          <p:cNvSpPr/>
          <p:nvPr/>
        </p:nvSpPr>
        <p:spPr>
          <a:xfrm>
            <a:off x="5745547" y="3441261"/>
            <a:ext cx="283029" cy="2830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E0F8BF88-BD4D-3C39-3878-CEF1EBC7E345}"/>
              </a:ext>
            </a:extLst>
          </p:cNvPr>
          <p:cNvSpPr/>
          <p:nvPr/>
        </p:nvSpPr>
        <p:spPr>
          <a:xfrm>
            <a:off x="7032154" y="3446959"/>
            <a:ext cx="283029" cy="2830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9BF3EF3-80ED-0BDC-CA15-2A487F23EC8E}"/>
              </a:ext>
            </a:extLst>
          </p:cNvPr>
          <p:cNvCxnSpPr>
            <a:cxnSpLocks/>
            <a:stCxn id="55" idx="0"/>
            <a:endCxn id="50" idx="5"/>
          </p:cNvCxnSpPr>
          <p:nvPr/>
        </p:nvCxnSpPr>
        <p:spPr>
          <a:xfrm flipH="1" flipV="1">
            <a:off x="6578871" y="2557229"/>
            <a:ext cx="594798" cy="8897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1C5B136-DAF3-7008-5A84-9A6662A6E92E}"/>
              </a:ext>
            </a:extLst>
          </p:cNvPr>
          <p:cNvCxnSpPr>
            <a:cxnSpLocks/>
            <a:stCxn id="50" idx="3"/>
            <a:endCxn id="54" idx="0"/>
          </p:cNvCxnSpPr>
          <p:nvPr/>
        </p:nvCxnSpPr>
        <p:spPr>
          <a:xfrm flipH="1">
            <a:off x="5887062" y="2557229"/>
            <a:ext cx="491678" cy="884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73D4B4A1-E983-3F40-BEA4-E5E170C66113}"/>
              </a:ext>
            </a:extLst>
          </p:cNvPr>
          <p:cNvSpPr txBox="1"/>
          <p:nvPr/>
        </p:nvSpPr>
        <p:spPr>
          <a:xfrm>
            <a:off x="5757696" y="2798194"/>
            <a:ext cx="129058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Strong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D8395FA-13BC-E812-BE07-83FDBCC10B58}"/>
              </a:ext>
            </a:extLst>
          </p:cNvPr>
          <p:cNvSpPr txBox="1"/>
          <p:nvPr/>
        </p:nvSpPr>
        <p:spPr>
          <a:xfrm>
            <a:off x="6614835" y="2817428"/>
            <a:ext cx="129058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Weak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7FFE99C-2F37-FFF0-A38F-C98F05035028}"/>
              </a:ext>
            </a:extLst>
          </p:cNvPr>
          <p:cNvSpPr txBox="1"/>
          <p:nvPr/>
        </p:nvSpPr>
        <p:spPr>
          <a:xfrm>
            <a:off x="5557271" y="3763722"/>
            <a:ext cx="129058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3A29630-5375-504B-2132-FE033E8EC9E4}"/>
              </a:ext>
            </a:extLst>
          </p:cNvPr>
          <p:cNvSpPr txBox="1"/>
          <p:nvPr/>
        </p:nvSpPr>
        <p:spPr>
          <a:xfrm>
            <a:off x="7032154" y="3763722"/>
            <a:ext cx="129058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3459997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220E1-54F2-00F9-04DB-5606F8178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698020-93D0-B0A8-F606-70E3963F0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2172" y="710834"/>
            <a:ext cx="7039428" cy="436916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Random Forest</a:t>
            </a:r>
            <a:r>
              <a:rPr lang="en-US" dirty="0"/>
              <a:t> is an ensemble learning algorithm that combines multiple Decision Trees to make a more reliable prediction.</a:t>
            </a:r>
          </a:p>
          <a:p>
            <a:pPr lvl="0"/>
            <a:r>
              <a:rPr lang="en-US" b="1" dirty="0"/>
              <a:t>Bootstrap Sampling</a:t>
            </a:r>
            <a:r>
              <a:rPr lang="en-US" dirty="0"/>
              <a:t> – Create different random samples from the original dataset. </a:t>
            </a:r>
          </a:p>
          <a:p>
            <a:pPr lvl="0"/>
            <a:r>
              <a:rPr lang="en-US" b="1" dirty="0"/>
              <a:t>Build Multiple Trees</a:t>
            </a:r>
            <a:r>
              <a:rPr lang="en-US" dirty="0"/>
              <a:t> – Train a Decision Tree on each sample. </a:t>
            </a:r>
          </a:p>
          <a:p>
            <a:pPr lvl="0"/>
            <a:r>
              <a:rPr lang="en-US" b="1" dirty="0"/>
              <a:t>Random Feature Selection</a:t>
            </a:r>
            <a:r>
              <a:rPr lang="en-US" dirty="0"/>
              <a:t> – At each split, each tree considers a random subset of features. </a:t>
            </a:r>
          </a:p>
          <a:p>
            <a:pPr lvl="0"/>
            <a:r>
              <a:rPr lang="en-US" b="1" dirty="0"/>
              <a:t>Combine Predictions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Classification:</a:t>
            </a:r>
            <a:r>
              <a:rPr lang="en-US" dirty="0"/>
              <a:t> Majority voting </a:t>
            </a:r>
          </a:p>
          <a:p>
            <a:pPr lvl="1"/>
            <a:r>
              <a:rPr lang="en-US" b="1" dirty="0"/>
              <a:t>Regression:</a:t>
            </a:r>
            <a:r>
              <a:rPr lang="en-US" dirty="0"/>
              <a:t> Average of predictions </a:t>
            </a:r>
          </a:p>
          <a:p>
            <a:pPr marL="0" indent="0">
              <a:buNone/>
            </a:pPr>
            <a:r>
              <a:rPr lang="en-US" b="1" dirty="0"/>
              <a:t>flow:</a:t>
            </a:r>
            <a:endParaRPr lang="en-US" dirty="0"/>
          </a:p>
          <a:p>
            <a:r>
              <a:rPr lang="en-US" dirty="0"/>
              <a:t>Dataset → Random Samples → Multiple Decision Trees → Voting/Averaging → Final Prediction</a:t>
            </a: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  <a:latin typeface="Helvetica Neue" panose="02000503040000020004" pitchFamily="50" charset="-52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Helvetica Neue" panose="0200050304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51613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F9FEE-48B6-7412-D149-D21CE8534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38A4D3-647C-78C6-8B56-DA9E53591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400" y="268148"/>
            <a:ext cx="6959599" cy="47282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Helvetica Neue" panose="02000503040000020004" pitchFamily="50" charset="-52"/>
              </a:rPr>
              <a:t>Ensemble Learning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Helvetica Neue" panose="02000503040000020004" pitchFamily="50" charset="-5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F0AB6C-CEC8-1C6F-F7A9-61144B09E8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989" y="726691"/>
            <a:ext cx="5299982" cy="393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794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4086C-1098-1012-86A6-3E74D0942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1030A4-9E82-D6EC-B48C-49DEBF6F3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2172" y="710834"/>
            <a:ext cx="2913742" cy="28524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Helvetica Neue" panose="02000503040000020004" pitchFamily="50" charset="-52"/>
              </a:rPr>
              <a:t>Ensemble Learning</a:t>
            </a:r>
          </a:p>
          <a:p>
            <a:r>
              <a:rPr lang="en-US" sz="1600" dirty="0">
                <a:solidFill>
                  <a:schemeClr val="tx1"/>
                </a:solidFill>
              </a:rPr>
              <a:t>Sequential </a:t>
            </a:r>
            <a:r>
              <a:rPr lang="en-US" sz="1600" dirty="0" err="1">
                <a:solidFill>
                  <a:schemeClr val="tx1"/>
                </a:solidFill>
              </a:rPr>
              <a:t>Ensembling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Parallel </a:t>
            </a:r>
            <a:r>
              <a:rPr lang="en-US" sz="1600" dirty="0" err="1">
                <a:solidFill>
                  <a:schemeClr val="tx1"/>
                </a:solidFill>
              </a:rPr>
              <a:t>Ensembling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  <a:latin typeface="Helvetica Neue" panose="02000503040000020004" pitchFamily="50" charset="-52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Helvetica Neue" panose="02000503040000020004" pitchFamily="50" charset="-5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583C42-6DEC-87D2-2407-F6989CAAE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175"/>
          <a:stretch>
            <a:fillRect/>
          </a:stretch>
        </p:blipFill>
        <p:spPr>
          <a:xfrm>
            <a:off x="5123542" y="317501"/>
            <a:ext cx="3862169" cy="29228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83D811-6471-BCA4-7CD3-4F9462F6A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3552" b="59083"/>
          <a:stretch>
            <a:fillRect/>
          </a:stretch>
        </p:blipFill>
        <p:spPr>
          <a:xfrm>
            <a:off x="2020773" y="2571750"/>
            <a:ext cx="3999371" cy="210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853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5B52C-9E12-F69B-8646-66651680E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Content Placeholder 24">
            <a:extLst>
              <a:ext uri="{FF2B5EF4-FFF2-40B4-BE49-F238E27FC236}">
                <a16:creationId xmlns:a16="http://schemas.microsoft.com/office/drawing/2014/main" id="{42B17368-226B-8C1F-72C2-E2A418E1E7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7771971"/>
              </p:ext>
            </p:extLst>
          </p:nvPr>
        </p:nvGraphicFramePr>
        <p:xfrm>
          <a:off x="2002971" y="595086"/>
          <a:ext cx="6336168" cy="3701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83393">
                  <a:extLst>
                    <a:ext uri="{9D8B030D-6E8A-4147-A177-3AD203B41FA5}">
                      <a16:colId xmlns:a16="http://schemas.microsoft.com/office/drawing/2014/main" val="3295681531"/>
                    </a:ext>
                  </a:extLst>
                </a:gridCol>
                <a:gridCol w="3152775">
                  <a:extLst>
                    <a:ext uri="{9D8B030D-6E8A-4147-A177-3AD203B41FA5}">
                      <a16:colId xmlns:a16="http://schemas.microsoft.com/office/drawing/2014/main" val="3917424583"/>
                    </a:ext>
                  </a:extLst>
                </a:gridCol>
              </a:tblGrid>
              <a:tr h="493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Parameter</a:t>
                      </a:r>
                    </a:p>
                  </a:txBody>
                  <a:tcPr marL="70062" marR="70062" marT="35031" marB="350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Meaning</a:t>
                      </a:r>
                    </a:p>
                  </a:txBody>
                  <a:tcPr marL="70062" marR="70062" marT="35031" marB="35031" anchor="ctr"/>
                </a:tc>
                <a:extLst>
                  <a:ext uri="{0D108BD9-81ED-4DB2-BD59-A6C34878D82A}">
                    <a16:rowId xmlns:a16="http://schemas.microsoft.com/office/drawing/2014/main" val="1353986780"/>
                  </a:ext>
                </a:extLst>
              </a:tr>
              <a:tr h="493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n_estimators</a:t>
                      </a:r>
                    </a:p>
                  </a:txBody>
                  <a:tcPr marL="70062" marR="70062" marT="35031" marB="350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Number of decision trees</a:t>
                      </a:r>
                    </a:p>
                  </a:txBody>
                  <a:tcPr marL="70062" marR="70062" marT="35031" marB="35031" anchor="ctr"/>
                </a:tc>
                <a:extLst>
                  <a:ext uri="{0D108BD9-81ED-4DB2-BD59-A6C34878D82A}">
                    <a16:rowId xmlns:a16="http://schemas.microsoft.com/office/drawing/2014/main" val="2030368728"/>
                  </a:ext>
                </a:extLst>
              </a:tr>
              <a:tr h="493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max_depth</a:t>
                      </a:r>
                    </a:p>
                  </a:txBody>
                  <a:tcPr marL="70062" marR="70062" marT="35031" marB="350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Maximum depth of each tree</a:t>
                      </a:r>
                    </a:p>
                  </a:txBody>
                  <a:tcPr marL="70062" marR="70062" marT="35031" marB="35031" anchor="ctr"/>
                </a:tc>
                <a:extLst>
                  <a:ext uri="{0D108BD9-81ED-4DB2-BD59-A6C34878D82A}">
                    <a16:rowId xmlns:a16="http://schemas.microsoft.com/office/drawing/2014/main" val="130112717"/>
                  </a:ext>
                </a:extLst>
              </a:tr>
              <a:tr h="864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max_features</a:t>
                      </a:r>
                    </a:p>
                  </a:txBody>
                  <a:tcPr marL="70062" marR="70062" marT="35031" marB="350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Number of features considered for each split</a:t>
                      </a:r>
                    </a:p>
                  </a:txBody>
                  <a:tcPr marL="70062" marR="70062" marT="35031" marB="35031" anchor="ctr"/>
                </a:tc>
                <a:extLst>
                  <a:ext uri="{0D108BD9-81ED-4DB2-BD59-A6C34878D82A}">
                    <a16:rowId xmlns:a16="http://schemas.microsoft.com/office/drawing/2014/main" val="1066290881"/>
                  </a:ext>
                </a:extLst>
              </a:tr>
              <a:tr h="493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random_state</a:t>
                      </a:r>
                    </a:p>
                  </a:txBody>
                  <a:tcPr marL="70062" marR="70062" marT="35031" marB="350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Ensures reproducible results</a:t>
                      </a:r>
                    </a:p>
                  </a:txBody>
                  <a:tcPr marL="70062" marR="70062" marT="35031" marB="35031" anchor="ctr"/>
                </a:tc>
                <a:extLst>
                  <a:ext uri="{0D108BD9-81ED-4DB2-BD59-A6C34878D82A}">
                    <a16:rowId xmlns:a16="http://schemas.microsoft.com/office/drawing/2014/main" val="963904457"/>
                  </a:ext>
                </a:extLst>
              </a:tr>
              <a:tr h="864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bootstrap</a:t>
                      </a:r>
                    </a:p>
                  </a:txBody>
                  <a:tcPr marL="70062" marR="70062" marT="35031" marB="350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Uses random sampling with replacement; default is True</a:t>
                      </a:r>
                    </a:p>
                  </a:txBody>
                  <a:tcPr marL="70062" marR="70062" marT="35031" marB="35031" anchor="ctr"/>
                </a:tc>
                <a:extLst>
                  <a:ext uri="{0D108BD9-81ED-4DB2-BD59-A6C34878D82A}">
                    <a16:rowId xmlns:a16="http://schemas.microsoft.com/office/drawing/2014/main" val="332240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3018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EBFC7-0145-80FD-4E84-AD2371652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DBAEB1-9CDF-C3CB-6DAE-468676D37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1315" y="616491"/>
            <a:ext cx="7039428" cy="43691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Advantages</a:t>
            </a:r>
            <a:endParaRPr lang="en-US" sz="1800" dirty="0"/>
          </a:p>
          <a:p>
            <a:pPr lvl="0"/>
            <a:r>
              <a:rPr lang="en-US" sz="1800" dirty="0"/>
              <a:t>Reduces </a:t>
            </a:r>
            <a:r>
              <a:rPr lang="en-US" sz="1800" b="1" dirty="0"/>
              <a:t>overfitting</a:t>
            </a:r>
            <a:r>
              <a:rPr lang="en-US" sz="1800" dirty="0"/>
              <a:t> compared with a single Decision Tree. </a:t>
            </a:r>
          </a:p>
          <a:p>
            <a:pPr lvl="0"/>
            <a:r>
              <a:rPr lang="en-US" sz="1800" dirty="0"/>
              <a:t>Usually provides better </a:t>
            </a:r>
            <a:r>
              <a:rPr lang="en-US" sz="1800" b="1" dirty="0"/>
              <a:t>generalization</a:t>
            </a:r>
            <a:r>
              <a:rPr lang="en-US" sz="1800" dirty="0"/>
              <a:t>. </a:t>
            </a:r>
          </a:p>
          <a:p>
            <a:pPr lvl="0"/>
            <a:r>
              <a:rPr lang="en-US" sz="1800" dirty="0"/>
              <a:t>Works for both </a:t>
            </a:r>
            <a:r>
              <a:rPr lang="en-US" sz="1800" b="1" dirty="0"/>
              <a:t>classification and regression</a:t>
            </a:r>
            <a:r>
              <a:rPr lang="en-US" sz="1800" dirty="0"/>
              <a:t>. </a:t>
            </a:r>
          </a:p>
          <a:p>
            <a:pPr lvl="0"/>
            <a:r>
              <a:rPr lang="en-US" sz="1800" dirty="0"/>
              <a:t>Can handle many features and large datasets. </a:t>
            </a:r>
          </a:p>
          <a:p>
            <a:pPr lvl="0"/>
            <a:r>
              <a:rPr lang="en-US" sz="1800" dirty="0"/>
              <a:t>Provides </a:t>
            </a:r>
            <a:r>
              <a:rPr lang="en-US" sz="1800" b="1" dirty="0"/>
              <a:t>feature importance</a:t>
            </a:r>
            <a:r>
              <a:rPr lang="en-US" sz="1800" dirty="0"/>
              <a:t>. </a:t>
            </a:r>
          </a:p>
          <a:p>
            <a:pPr marL="0" indent="0">
              <a:buNone/>
            </a:pPr>
            <a:r>
              <a:rPr lang="en-US" sz="1800" b="1" dirty="0"/>
              <a:t>Disadvantages</a:t>
            </a:r>
            <a:endParaRPr lang="en-US" sz="1800" dirty="0"/>
          </a:p>
          <a:p>
            <a:pPr lvl="0"/>
            <a:r>
              <a:rPr lang="en-US" sz="1800" dirty="0"/>
              <a:t>More </a:t>
            </a:r>
            <a:r>
              <a:rPr lang="en-US" sz="1800" b="1" dirty="0"/>
              <a:t>computationally expensive </a:t>
            </a:r>
            <a:r>
              <a:rPr lang="en-US" sz="1800" dirty="0"/>
              <a:t>than one Decision Tree. </a:t>
            </a:r>
          </a:p>
          <a:p>
            <a:pPr lvl="0"/>
            <a:r>
              <a:rPr lang="en-US" sz="1800" b="1" dirty="0"/>
              <a:t>Less interpretable </a:t>
            </a:r>
            <a:r>
              <a:rPr lang="en-US" sz="1800" dirty="0"/>
              <a:t>because many trees are involved. </a:t>
            </a:r>
          </a:p>
          <a:p>
            <a:pPr lvl="0"/>
            <a:r>
              <a:rPr lang="en-US" sz="1800" dirty="0"/>
              <a:t>Prediction can be </a:t>
            </a:r>
            <a:r>
              <a:rPr lang="en-US" sz="1800" b="1" dirty="0"/>
              <a:t>slower</a:t>
            </a:r>
            <a:r>
              <a:rPr lang="en-US" sz="1800" dirty="0"/>
              <a:t> with a very large number of trees.</a:t>
            </a: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  <a:latin typeface="Helvetica Neue" panose="02000503040000020004" pitchFamily="50" charset="-52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Helvetica Neue" panose="0200050304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183148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B1369-A5A2-B5CF-A3A3-24628A2BA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EF177-82A4-7525-F270-9A791C589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7DDEEB-575E-51FD-F94A-68F7C7854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332" y="0"/>
            <a:ext cx="543813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426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629</Words>
  <Application>Microsoft Office PowerPoint</Application>
  <PresentationFormat>On-screen Show (16:9)</PresentationFormat>
  <Paragraphs>211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 Narrow</vt:lpstr>
      <vt:lpstr>Arial</vt:lpstr>
      <vt:lpstr>Calibri</vt:lpstr>
      <vt:lpstr>Helvetica Neue</vt:lpstr>
      <vt:lpstr>Office Theme</vt:lpstr>
      <vt:lpstr>Decision tree  &amp; Random Forest</vt:lpstr>
      <vt:lpstr>Decision Tree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Mc114</cp:lastModifiedBy>
  <cp:revision>22</cp:revision>
  <dcterms:created xsi:type="dcterms:W3CDTF">2017-08-01T15:40:51Z</dcterms:created>
  <dcterms:modified xsi:type="dcterms:W3CDTF">2026-09-29T13:08:49Z</dcterms:modified>
</cp:coreProperties>
</file>