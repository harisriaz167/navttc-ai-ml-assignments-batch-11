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35"/>
    <a:srgbClr val="9EFF29"/>
    <a:srgbClr val="C80064"/>
    <a:srgbClr val="C33A1F"/>
    <a:srgbClr val="0000CC"/>
    <a:srgbClr val="FF2549"/>
    <a:srgbClr val="007033"/>
    <a:srgbClr val="D6370C"/>
    <a:srgbClr val="1D3A00"/>
    <a:srgbClr val="FF8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7703" y="1784556"/>
            <a:ext cx="8229600" cy="1688688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0328" y="3694468"/>
            <a:ext cx="8229600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4337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312606"/>
            <a:ext cx="8246070" cy="346587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106" y="406537"/>
            <a:ext cx="6283782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20136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92" y="271648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655517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127914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655517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127914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949" y="1895168"/>
            <a:ext cx="8192728" cy="1445337"/>
          </a:xfrm>
        </p:spPr>
        <p:txBody>
          <a:bodyPr>
            <a:normAutofit/>
          </a:bodyPr>
          <a:lstStyle/>
          <a:p>
            <a:r>
              <a:rPr lang="en-US" dirty="0"/>
              <a:t>Gradient Descent </a:t>
            </a:r>
            <a:br>
              <a:rPr lang="en-US" dirty="0"/>
            </a:br>
            <a:r>
              <a:rPr lang="en-US" dirty="0"/>
              <a:t>Updates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4575" y="3753458"/>
            <a:ext cx="8192728" cy="730043"/>
          </a:xfrm>
        </p:spPr>
        <p:txBody>
          <a:bodyPr/>
          <a:lstStyle/>
          <a:p>
            <a:r>
              <a:rPr lang="en-US" dirty="0"/>
              <a:t>NETSOL Cohort II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742" y="1327121"/>
            <a:ext cx="2968915" cy="346587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Helvetica Neue" panose="02000503040000020004" pitchFamily="50" charset="-52"/>
              </a:rPr>
              <a:t>Given:</a:t>
            </a:r>
          </a:p>
          <a:p>
            <a:r>
              <a:rPr lang="en-US" sz="2000" dirty="0"/>
              <a:t>J(w) = (w - 5)²   </a:t>
            </a:r>
          </a:p>
          <a:p>
            <a:r>
              <a:rPr lang="en-US" sz="2000" dirty="0"/>
              <a:t>w₀ = 1</a:t>
            </a:r>
          </a:p>
          <a:p>
            <a:r>
              <a:rPr lang="en-US" sz="2000" dirty="0"/>
              <a:t>α = 0.25</a:t>
            </a:r>
          </a:p>
          <a:p>
            <a:pPr marL="0" indent="0">
              <a:buNone/>
            </a:pPr>
            <a:r>
              <a:rPr lang="en-US" dirty="0">
                <a:latin typeface="Helvetica Neue" panose="02000503040000020004" pitchFamily="50" charset="-52"/>
              </a:rPr>
              <a:t>Find:</a:t>
            </a:r>
          </a:p>
          <a:p>
            <a:r>
              <a:rPr lang="en-US" sz="2000" dirty="0"/>
              <a:t>w₁ </a:t>
            </a:r>
          </a:p>
          <a:p>
            <a:r>
              <a:rPr lang="en-US" sz="2000" dirty="0"/>
              <a:t> w₂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192843" y="268148"/>
                <a:ext cx="6588300" cy="43473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Helvetica Neue" panose="02000503040000020004" pitchFamily="50" charset="-52"/>
                  </a:rPr>
                  <a:t>Step 1: (Prediction)</a:t>
                </a:r>
              </a:p>
              <a:p>
                <a:pPr marL="400050" lvl="1" indent="0">
                  <a:buNone/>
                </a:pPr>
                <a:r>
                  <a:rPr lang="en-US" sz="1400" dirty="0"/>
                  <a:t>J(w)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 - 5)²</a:t>
                </a:r>
              </a:p>
              <a:p>
                <a:pPr marL="400050" lvl="1" indent="0">
                  <a:buNone/>
                </a:pPr>
                <a:r>
                  <a:rPr lang="en-US" sz="1400" dirty="0"/>
                  <a:t>J(w) = (1 - 5)² = (- 4)² = 16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2000" dirty="0">
                    <a:latin typeface="Helvetica Neue" panose="02000503040000020004" pitchFamily="50" charset="-52"/>
                  </a:rPr>
                  <a:t>Step 2: (Gradient calculation)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first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differentiate           J(w) = (w - 5)²</a:t>
                </a:r>
              </a:p>
              <a:p>
                <a:pPr marL="0" indent="0">
                  <a:buNone/>
                </a:pPr>
                <a:r>
                  <a:rPr lang="en-US" sz="1400" dirty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𝑑𝑤</m:t>
                        </m:r>
                      </m:den>
                    </m:f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:r>
                  <a:rPr lang="en-US" sz="1400" dirty="0"/>
                  <a:t>= 2(w - 5)</a:t>
                </a:r>
              </a:p>
              <a:p>
                <a:pPr marL="0" indent="0">
                  <a:buNone/>
                </a:pPr>
                <a:r>
                  <a:rPr lang="en-US" sz="1400" dirty="0">
                    <a:latin typeface="Helvetica Neue" panose="02000503040000020004" pitchFamily="50" charset="-52"/>
                  </a:rPr>
                  <a:t>putting values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:r>
                  <a:rPr lang="en-US" sz="1400" dirty="0"/>
                  <a:t>= 2(1 - 5)</a:t>
                </a:r>
              </a:p>
              <a:p>
                <a:pPr marL="0" indent="0">
                  <a:buNone/>
                </a:pPr>
                <a:r>
                  <a:rPr lang="en-US" sz="1400" dirty="0"/>
                  <a:t>                                                 G = 2(-4) = </a:t>
                </a:r>
                <a:r>
                  <a:rPr lang="en-US" sz="1400" b="1" dirty="0"/>
                  <a:t>-8      </a:t>
                </a:r>
                <a:r>
                  <a:rPr lang="en-US" sz="1400" dirty="0"/>
                  <a:t>(we will increase weight)</a:t>
                </a:r>
              </a:p>
              <a:p>
                <a:pPr marL="0" indent="0">
                  <a:buNone/>
                </a:pPr>
                <a:endParaRPr lang="en-US" sz="1400" dirty="0">
                  <a:latin typeface="Helvetica Neue" panose="02000503040000020004" pitchFamily="50" charset="-5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Helvetica Neue" panose="02000503040000020004" pitchFamily="50" charset="-52"/>
                  </a:rPr>
                  <a:t>Step 2: (we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Helvetica Neue" panose="02000503040000020004" pitchFamily="50" charset="-5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dirty="0"/>
                  <a:t>		w₁ = w₀ - α(G)</a:t>
                </a:r>
              </a:p>
              <a:p>
                <a:pPr marL="0" indent="0">
                  <a:buNone/>
                </a:pPr>
                <a:r>
                  <a:rPr lang="en-US" sz="1400" dirty="0"/>
                  <a:t>		w₁ = 1 - 0.25(-8)</a:t>
                </a:r>
              </a:p>
              <a:p>
                <a:pPr marL="0" indent="0">
                  <a:buNone/>
                </a:pPr>
                <a:r>
                  <a:rPr lang="en-US" sz="1400" dirty="0"/>
                  <a:t>		</a:t>
                </a:r>
                <a:r>
                  <a:rPr lang="en-US" sz="1400" dirty="0">
                    <a:highlight>
                      <a:srgbClr val="FFFF00"/>
                    </a:highlight>
                  </a:rPr>
                  <a:t>w₁ = 1 + 2 = </a:t>
                </a:r>
                <a:r>
                  <a:rPr lang="en-US" sz="1400" b="1" dirty="0">
                    <a:highlight>
                      <a:srgbClr val="FFFF00"/>
                    </a:highlight>
                  </a:rPr>
                  <a:t>3</a:t>
                </a:r>
              </a:p>
              <a:p>
                <a:pPr marL="0" indent="0">
                  <a:buNone/>
                </a:pPr>
                <a:endParaRPr lang="en-US" sz="1400" dirty="0">
                  <a:latin typeface="Helvetica Neue" panose="02000503040000020004" pitchFamily="50" charset="-52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92843" y="268148"/>
                <a:ext cx="6588300" cy="4347395"/>
              </a:xfrm>
              <a:blipFill>
                <a:blip r:embed="rId2"/>
                <a:stretch>
                  <a:fillRect l="-1019" t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C74948-351C-E51B-0E52-1A65B923D24F}"/>
                  </a:ext>
                </a:extLst>
              </p:cNvPr>
              <p:cNvSpPr txBox="1"/>
              <p:nvPr/>
            </p:nvSpPr>
            <p:spPr>
              <a:xfrm>
                <a:off x="6190343" y="268148"/>
                <a:ext cx="25908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Initial loss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- 5)²</a:t>
                </a:r>
              </a:p>
              <a:p>
                <a:r>
                  <a:rPr lang="en-US" dirty="0"/>
                  <a:t>                   = (1 - 5)² </a:t>
                </a:r>
              </a:p>
              <a:p>
                <a:r>
                  <a:rPr lang="en-US" dirty="0"/>
                  <a:t> 	  = (-4)²</a:t>
                </a:r>
              </a:p>
              <a:p>
                <a:r>
                  <a:rPr lang="en-US" dirty="0"/>
                  <a:t>Initial loss  =  </a:t>
                </a:r>
                <a:r>
                  <a:rPr lang="en-US" dirty="0">
                    <a:highlight>
                      <a:srgbClr val="FFFF00"/>
                    </a:highlight>
                  </a:rPr>
                  <a:t>16</a:t>
                </a:r>
              </a:p>
              <a:p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C74948-351C-E51B-0E52-1A65B923D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343" y="268148"/>
                <a:ext cx="2590800" cy="1754326"/>
              </a:xfrm>
              <a:prstGeom prst="rect">
                <a:avLst/>
              </a:prstGeom>
              <a:blipFill>
                <a:blip r:embed="rId3"/>
                <a:stretch>
                  <a:fillRect l="-1882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69A892-376D-7B64-2F47-1F28AE01107B}"/>
              </a:ext>
            </a:extLst>
          </p:cNvPr>
          <p:cNvCxnSpPr>
            <a:cxnSpLocks/>
          </p:cNvCxnSpPr>
          <p:nvPr/>
        </p:nvCxnSpPr>
        <p:spPr>
          <a:xfrm>
            <a:off x="6088743" y="65314"/>
            <a:ext cx="0" cy="21771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6085-332A-35AC-6B1C-F0461411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297FA90-794E-EC12-CA68-CCED960B4F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92843" y="268148"/>
                <a:ext cx="6588300" cy="47282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Helvetica Neue" panose="02000503040000020004" pitchFamily="50" charset="-52"/>
                  </a:rPr>
                  <a:t>Step 4: (Re-prediction)</a:t>
                </a:r>
              </a:p>
              <a:p>
                <a:pPr marL="400050" lvl="1" indent="0">
                  <a:buNone/>
                </a:pPr>
                <a:r>
                  <a:rPr lang="en-US" sz="1400" dirty="0"/>
                  <a:t>J(w)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/>
                  <a:t> - 5)²                                    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400" dirty="0"/>
              </a:p>
              <a:p>
                <a:pPr marL="400050" lvl="1" indent="0">
                  <a:buNone/>
                </a:pPr>
                <a:r>
                  <a:rPr lang="en-US" sz="1400" dirty="0"/>
                  <a:t>J(w) = (3 - 5)² = (- 2)² = 4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2000" dirty="0">
                    <a:latin typeface="Helvetica Neue" panose="02000503040000020004" pitchFamily="50" charset="-52"/>
                  </a:rPr>
                  <a:t>Step 5: (next Gradient calculation)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:r>
                  <a:rPr lang="en-US" sz="1400" dirty="0"/>
                  <a:t>= 2(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/>
                  <a:t>- 5)</a:t>
                </a:r>
              </a:p>
              <a:p>
                <a:pPr marL="0" indent="0">
                  <a:buNone/>
                </a:pPr>
                <a:r>
                  <a:rPr lang="en-US" sz="1400" dirty="0"/>
                  <a:t>		G= 2(3 - 5)</a:t>
                </a:r>
              </a:p>
              <a:p>
                <a:pPr marL="0" indent="0">
                  <a:buNone/>
                </a:pPr>
                <a:r>
                  <a:rPr lang="en-US" sz="1400" dirty="0"/>
                  <a:t>                                                 G = 2(-2) = </a:t>
                </a:r>
                <a:r>
                  <a:rPr lang="en-US" sz="1400" b="1" dirty="0"/>
                  <a:t>-4      </a:t>
                </a:r>
                <a:r>
                  <a:rPr lang="en-US" sz="1400" dirty="0"/>
                  <a:t>(we will increase weight)</a:t>
                </a:r>
              </a:p>
              <a:p>
                <a:pPr marL="0" indent="0">
                  <a:buNone/>
                </a:pPr>
                <a:endParaRPr lang="en-US" sz="1400" dirty="0">
                  <a:latin typeface="Helvetica Neue" panose="02000503040000020004" pitchFamily="50" charset="-5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Helvetica Neue" panose="02000503040000020004" pitchFamily="50" charset="-52"/>
                  </a:rPr>
                  <a:t>Step 6: (we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Helvetica Neue" panose="02000503040000020004" pitchFamily="50" charset="-5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4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/>
                  <a:t> - α(G)</a:t>
                </a:r>
              </a:p>
              <a:p>
                <a:pPr marL="0" indent="0">
                  <a:buNone/>
                </a:pPr>
                <a:r>
                  <a:rPr lang="en-US" sz="14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 = 3 – 0.25(-4)</a:t>
                </a:r>
              </a:p>
              <a:p>
                <a:pPr marL="0" indent="0">
                  <a:buNone/>
                </a:pPr>
                <a:r>
                  <a:rPr lang="en-US" sz="1400" dirty="0"/>
                  <a:t>		 </a:t>
                </a:r>
                <a:r>
                  <a:rPr lang="en-US" sz="1400" dirty="0">
                    <a:highlight>
                      <a:srgbClr val="FFFF00"/>
                    </a:highlight>
                  </a:rPr>
                  <a:t>w₂ = 3 + 1 = </a:t>
                </a:r>
                <a:r>
                  <a:rPr lang="en-US" sz="1400" b="1" dirty="0">
                    <a:highlight>
                      <a:srgbClr val="FFFF00"/>
                    </a:highlight>
                  </a:rPr>
                  <a:t>4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2000" dirty="0">
                    <a:latin typeface="Helvetica Neue" panose="02000503040000020004" pitchFamily="50" charset="-52"/>
                  </a:rPr>
                  <a:t>Loss :   16      4     1  </a:t>
                </a:r>
                <a:r>
                  <a:rPr lang="en-US" sz="1600" dirty="0">
                    <a:solidFill>
                      <a:schemeClr val="tx1"/>
                    </a:solidFill>
                    <a:latin typeface="Helvetica Neue" panose="02000503040000020004" pitchFamily="50" charset="-52"/>
                  </a:rPr>
                  <a:t>(loss decreased)</a:t>
                </a:r>
                <a:endParaRPr lang="en-US" sz="2000" dirty="0">
                  <a:solidFill>
                    <a:schemeClr val="tx1"/>
                  </a:solidFill>
                  <a:latin typeface="Helvetica Neue" panose="02000503040000020004" pitchFamily="50" charset="-52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297FA90-794E-EC12-CA68-CCED960B4F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92843" y="268148"/>
                <a:ext cx="6588300" cy="4728211"/>
              </a:xfrm>
              <a:blipFill>
                <a:blip r:embed="rId2"/>
                <a:stretch>
                  <a:fillRect l="-1019" t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1906D05-5D39-EF94-C762-CD7BCF0D3C86}"/>
              </a:ext>
            </a:extLst>
          </p:cNvPr>
          <p:cNvCxnSpPr>
            <a:cxnSpLocks/>
          </p:cNvCxnSpPr>
          <p:nvPr/>
        </p:nvCxnSpPr>
        <p:spPr>
          <a:xfrm>
            <a:off x="6400800" y="119558"/>
            <a:ext cx="0" cy="2322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C212D2-1454-BEBE-7067-69F02EF34C86}"/>
                  </a:ext>
                </a:extLst>
              </p:cNvPr>
              <p:cNvSpPr txBox="1"/>
              <p:nvPr/>
            </p:nvSpPr>
            <p:spPr>
              <a:xfrm>
                <a:off x="6422571" y="253267"/>
                <a:ext cx="25908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2nd loss   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- 5)²</a:t>
                </a:r>
              </a:p>
              <a:p>
                <a:r>
                  <a:rPr lang="en-US" dirty="0"/>
                  <a:t>                   = (3 - 5)² </a:t>
                </a:r>
              </a:p>
              <a:p>
                <a:r>
                  <a:rPr lang="en-US" dirty="0"/>
                  <a:t> 	  = (-2)²</a:t>
                </a:r>
              </a:p>
              <a:p>
                <a:r>
                  <a:rPr lang="en-US" dirty="0"/>
                  <a:t>                    =  </a:t>
                </a:r>
                <a:r>
                  <a:rPr lang="en-US" dirty="0">
                    <a:highlight>
                      <a:srgbClr val="FFFF00"/>
                    </a:highlight>
                  </a:rPr>
                  <a:t>4</a:t>
                </a:r>
              </a:p>
              <a:p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C212D2-1454-BEBE-7067-69F02EF34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571" y="253267"/>
                <a:ext cx="2590800" cy="1754326"/>
              </a:xfrm>
              <a:prstGeom prst="rect">
                <a:avLst/>
              </a:prstGeom>
              <a:blipFill>
                <a:blip r:embed="rId3"/>
                <a:stretch>
                  <a:fillRect l="-2118" t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12F308-8198-2CFB-A6ED-58DEE3338A43}"/>
              </a:ext>
            </a:extLst>
          </p:cNvPr>
          <p:cNvCxnSpPr>
            <a:cxnSpLocks/>
          </p:cNvCxnSpPr>
          <p:nvPr/>
        </p:nvCxnSpPr>
        <p:spPr>
          <a:xfrm>
            <a:off x="6400800" y="2674072"/>
            <a:ext cx="0" cy="2322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DC43F2-4612-6457-A914-E438524E0EEC}"/>
                  </a:ext>
                </a:extLst>
              </p:cNvPr>
              <p:cNvSpPr txBox="1"/>
              <p:nvPr/>
            </p:nvSpPr>
            <p:spPr>
              <a:xfrm>
                <a:off x="6422571" y="3093444"/>
                <a:ext cx="25908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3rd loss   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- 5)²</a:t>
                </a:r>
              </a:p>
              <a:p>
                <a:r>
                  <a:rPr lang="en-US" dirty="0"/>
                  <a:t>                   = (4 - 5)² </a:t>
                </a:r>
              </a:p>
              <a:p>
                <a:r>
                  <a:rPr lang="en-US" dirty="0"/>
                  <a:t> 	  = (-1)²</a:t>
                </a:r>
              </a:p>
              <a:p>
                <a:r>
                  <a:rPr lang="en-US" dirty="0"/>
                  <a:t>                    =  </a:t>
                </a:r>
                <a:r>
                  <a:rPr lang="en-US" dirty="0">
                    <a:highlight>
                      <a:srgbClr val="FFFF00"/>
                    </a:highlight>
                  </a:rPr>
                  <a:t>1</a:t>
                </a:r>
              </a:p>
              <a:p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DC43F2-4612-6457-A914-E438524E0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571" y="3093444"/>
                <a:ext cx="2590800" cy="1754326"/>
              </a:xfrm>
              <a:prstGeom prst="rect">
                <a:avLst/>
              </a:prstGeom>
              <a:blipFill>
                <a:blip r:embed="rId4"/>
                <a:stretch>
                  <a:fillRect l="-2118" t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201A0F-7970-689B-646B-D772F75A2E04}"/>
              </a:ext>
            </a:extLst>
          </p:cNvPr>
          <p:cNvCxnSpPr/>
          <p:nvPr/>
        </p:nvCxnSpPr>
        <p:spPr>
          <a:xfrm>
            <a:off x="3526972" y="4492170"/>
            <a:ext cx="26125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33DDC4-9797-C726-CBF4-857B2A878AF7}"/>
              </a:ext>
            </a:extLst>
          </p:cNvPr>
          <p:cNvCxnSpPr/>
          <p:nvPr/>
        </p:nvCxnSpPr>
        <p:spPr>
          <a:xfrm>
            <a:off x="4078515" y="4492170"/>
            <a:ext cx="26125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02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C036-5B25-4C17-7134-71CC883F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AB85-B353-795C-CC95-2CA9B829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CEE42-5530-1EF0-4536-916BDB680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742" y="1327121"/>
            <a:ext cx="3861544" cy="3465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Helvetica Neue" panose="02000503040000020004" pitchFamily="50" charset="-52"/>
              </a:rPr>
              <a:t>Given:</a:t>
            </a:r>
          </a:p>
          <a:p>
            <a:r>
              <a:rPr lang="en-US" sz="2000" dirty="0"/>
              <a:t>J(a , b) = (a - 2)² + (b + 1)² </a:t>
            </a:r>
          </a:p>
          <a:p>
            <a:r>
              <a:rPr lang="en-US" sz="2000" dirty="0"/>
              <a:t>a = 0</a:t>
            </a:r>
          </a:p>
          <a:p>
            <a:r>
              <a:rPr lang="en-US" sz="2000" dirty="0"/>
              <a:t>b = 1</a:t>
            </a:r>
          </a:p>
          <a:p>
            <a:r>
              <a:rPr lang="en-US" sz="2000" dirty="0"/>
              <a:t>α = 0.1</a:t>
            </a:r>
          </a:p>
          <a:p>
            <a:pPr marL="0" indent="0">
              <a:buNone/>
            </a:pPr>
            <a:r>
              <a:rPr lang="en-US" dirty="0">
                <a:latin typeface="Helvetica Neue" panose="02000503040000020004" pitchFamily="50" charset="-52"/>
              </a:rPr>
              <a:t>Find:</a:t>
            </a:r>
          </a:p>
          <a:p>
            <a:r>
              <a:rPr lang="en-US" sz="2000" dirty="0"/>
              <a:t>Gradient (∇J) </a:t>
            </a:r>
          </a:p>
          <a:p>
            <a:r>
              <a:rPr lang="en-US" sz="2000" dirty="0"/>
              <a:t> next point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02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78C1B-BC08-D495-8762-F06B6B50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B77E60-2627-2E2F-792B-ECD967AC7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843" y="268148"/>
            <a:ext cx="6588300" cy="43473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Helvetica Neue" panose="02000503040000020004" pitchFamily="50" charset="-52"/>
              </a:rPr>
              <a:t>Step 1: (Prediction)</a:t>
            </a:r>
          </a:p>
          <a:p>
            <a:pPr marL="400050" lvl="1" indent="0">
              <a:buNone/>
            </a:pPr>
            <a:r>
              <a:rPr lang="en-US" sz="1500" dirty="0"/>
              <a:t>               J(a , b) = (a - 2)² + (b + 1)²</a:t>
            </a:r>
          </a:p>
          <a:p>
            <a:pPr marL="400050" lvl="1" indent="0">
              <a:buNone/>
            </a:pPr>
            <a:r>
              <a:rPr lang="en-US" sz="1500" dirty="0"/>
              <a:t>                            = (0 - 2)² + (1 + 1)²</a:t>
            </a:r>
          </a:p>
          <a:p>
            <a:pPr marL="400050" lvl="1" indent="0">
              <a:buNone/>
            </a:pPr>
            <a:r>
              <a:rPr lang="en-US" sz="1500" dirty="0"/>
              <a:t>	               = (-2)² + (2)²</a:t>
            </a:r>
          </a:p>
          <a:p>
            <a:pPr marL="400050" lvl="1" indent="0">
              <a:buNone/>
            </a:pPr>
            <a:r>
              <a:rPr lang="en-US" sz="1500" dirty="0"/>
              <a:t>                            = 4 + 4 = 8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>
                <a:latin typeface="Helvetica Neue" panose="02000503040000020004" pitchFamily="50" charset="-52"/>
              </a:rPr>
              <a:t>Step 2: (Gradient calculation)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first </a:t>
            </a:r>
            <a:r>
              <a:rPr lang="en-US" sz="1400" dirty="0" err="1"/>
              <a:t>i</a:t>
            </a:r>
            <a:r>
              <a:rPr lang="en-US" sz="1400" dirty="0"/>
              <a:t> differentiate with respect to </a:t>
            </a:r>
            <a:r>
              <a:rPr lang="en-US" sz="1400" b="1" dirty="0"/>
              <a:t>a 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                                             ∂J/∂a = 2(a - 2)</a:t>
            </a:r>
          </a:p>
          <a:p>
            <a:pPr marL="0" indent="0">
              <a:buNone/>
            </a:pPr>
            <a:r>
              <a:rPr lang="en-US" sz="1400" dirty="0"/>
              <a:t>now </a:t>
            </a:r>
            <a:r>
              <a:rPr lang="en-US" sz="1400" dirty="0" err="1"/>
              <a:t>i</a:t>
            </a:r>
            <a:r>
              <a:rPr lang="en-US" sz="1400" dirty="0"/>
              <a:t> differentiate with respect to </a:t>
            </a:r>
            <a:r>
              <a:rPr lang="en-US" sz="1400" b="1" dirty="0"/>
              <a:t>b</a:t>
            </a:r>
            <a:r>
              <a:rPr lang="en-US" sz="1400" dirty="0"/>
              <a:t>:</a:t>
            </a:r>
          </a:p>
          <a:p>
            <a:pPr marL="0" indent="0">
              <a:buNone/>
            </a:pPr>
            <a:r>
              <a:rPr lang="en-US" sz="1400" dirty="0"/>
              <a:t>                                                      ∂J/∂b = 2(b + 1)</a:t>
            </a:r>
          </a:p>
          <a:p>
            <a:pPr marL="0" indent="0">
              <a:buNone/>
            </a:pPr>
            <a:r>
              <a:rPr lang="en-US" sz="1400" dirty="0"/>
              <a:t>putting value                              ∂J/∂a = 2(0 - 2)</a:t>
            </a:r>
          </a:p>
          <a:p>
            <a:pPr marL="0" indent="0">
              <a:buNone/>
            </a:pPr>
            <a:r>
              <a:rPr lang="en-US" sz="1400" dirty="0"/>
              <a:t>                                                                 = 2(-2) = </a:t>
            </a:r>
            <a:r>
              <a:rPr lang="en-US" sz="1400" b="1" dirty="0"/>
              <a:t>- 4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                                              ∂J/∂b = 2(1 + 1)</a:t>
            </a:r>
          </a:p>
          <a:p>
            <a:pPr marL="0" indent="0">
              <a:buNone/>
            </a:pPr>
            <a:r>
              <a:rPr lang="en-US" sz="1400" dirty="0"/>
              <a:t>                                                                 = 2(2) = </a:t>
            </a:r>
            <a:r>
              <a:rPr lang="en-US" sz="1400" b="1" dirty="0"/>
              <a:t>4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                                                    </a:t>
            </a:r>
            <a:r>
              <a:rPr lang="en-US" sz="1400" dirty="0">
                <a:highlight>
                  <a:srgbClr val="FFFF00"/>
                </a:highlight>
              </a:rPr>
              <a:t>∇J = (-4, 4)</a:t>
            </a:r>
          </a:p>
          <a:p>
            <a:pPr marL="0" indent="0">
              <a:buNone/>
            </a:pPr>
            <a:endParaRPr lang="en-US" sz="1400" dirty="0">
              <a:latin typeface="Helvetica Neue" panose="02000503040000020004" pitchFamily="50" charset="-52"/>
            </a:endParaRPr>
          </a:p>
          <a:p>
            <a:pPr marL="0" indent="0">
              <a:buNone/>
            </a:pPr>
            <a:endParaRPr lang="en-US" sz="1400" dirty="0">
              <a:latin typeface="Helvetica Neue" panose="02000503040000020004" pitchFamily="50" charset="-52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0727DCA-D842-8090-B19C-41B83271C1D8}"/>
              </a:ext>
            </a:extLst>
          </p:cNvPr>
          <p:cNvCxnSpPr/>
          <p:nvPr/>
        </p:nvCxnSpPr>
        <p:spPr>
          <a:xfrm>
            <a:off x="5914571" y="203200"/>
            <a:ext cx="0" cy="21118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F6616F-094D-AF57-20BE-75396E49145F}"/>
              </a:ext>
            </a:extLst>
          </p:cNvPr>
          <p:cNvSpPr txBox="1"/>
          <p:nvPr/>
        </p:nvSpPr>
        <p:spPr>
          <a:xfrm>
            <a:off x="5486993" y="203200"/>
            <a:ext cx="338664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lvl="1" indent="0">
              <a:buNone/>
            </a:pPr>
            <a:r>
              <a:rPr lang="en-US" sz="1600" dirty="0"/>
              <a:t>        initial loss  = (a - 2)² + (b + 1)²</a:t>
            </a:r>
          </a:p>
          <a:p>
            <a:pPr marL="400050" lvl="1" indent="0">
              <a:buNone/>
            </a:pPr>
            <a:r>
              <a:rPr lang="en-US" sz="1600" dirty="0"/>
              <a:t>                            = (0 - 2)² + (1 + 1)²</a:t>
            </a:r>
          </a:p>
          <a:p>
            <a:pPr marL="400050" lvl="1" indent="0">
              <a:buNone/>
            </a:pPr>
            <a:r>
              <a:rPr lang="en-US" sz="1600" dirty="0"/>
              <a:t>	                 = (-2)² + (2)²</a:t>
            </a:r>
          </a:p>
          <a:p>
            <a:pPr marL="400050" lvl="1" indent="0">
              <a:buNone/>
            </a:pPr>
            <a:r>
              <a:rPr lang="en-US" sz="1600" dirty="0"/>
              <a:t>                            = 4 + 4 = </a:t>
            </a:r>
            <a:r>
              <a:rPr lang="en-US" sz="1600" dirty="0">
                <a:highlight>
                  <a:srgbClr val="FFFF00"/>
                </a:highlight>
              </a:rPr>
              <a:t>8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999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6688-BEE6-FB95-DCA4-4EFA61FD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2E1EA3-FC18-8FDD-9535-E17EE626A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843" y="268148"/>
            <a:ext cx="6588300" cy="4347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Helvetica Neue" panose="02000503040000020004" pitchFamily="50" charset="-52"/>
              </a:rPr>
              <a:t>Step 3: (Calculate the next point)</a:t>
            </a:r>
          </a:p>
          <a:p>
            <a:pPr marL="0" indent="0">
              <a:buNone/>
            </a:pPr>
            <a:r>
              <a:rPr lang="en-US" sz="1600" dirty="0"/>
              <a:t>	a₁ = a₀ - α(∂J/∂a)</a:t>
            </a:r>
          </a:p>
          <a:p>
            <a:pPr marL="0" indent="0">
              <a:buNone/>
            </a:pPr>
            <a:r>
              <a:rPr lang="en-US" sz="1600" dirty="0"/>
              <a:t>	b₁ = b₀ - α(∂J/∂b)</a:t>
            </a:r>
          </a:p>
          <a:p>
            <a:pPr marL="0" indent="0">
              <a:buNone/>
            </a:pPr>
            <a:r>
              <a:rPr lang="en-US" sz="1600" b="1" dirty="0"/>
              <a:t>a₁:</a:t>
            </a:r>
          </a:p>
          <a:p>
            <a:pPr marL="0" indent="0">
              <a:buNone/>
            </a:pPr>
            <a:r>
              <a:rPr lang="en-US" sz="1600" dirty="0"/>
              <a:t>	a₁ = 0 - 0.1(-4)</a:t>
            </a:r>
          </a:p>
          <a:p>
            <a:pPr marL="0" indent="0">
              <a:buNone/>
            </a:pPr>
            <a:r>
              <a:rPr lang="en-US" sz="1600" dirty="0"/>
              <a:t>	a₁ = 0 + 0.4 = 0.4</a:t>
            </a:r>
          </a:p>
          <a:p>
            <a:pPr marL="0" indent="0">
              <a:buNone/>
            </a:pPr>
            <a:r>
              <a:rPr lang="en-US" sz="1600" b="1" dirty="0"/>
              <a:t>b₁:</a:t>
            </a:r>
          </a:p>
          <a:p>
            <a:pPr marL="0" indent="0">
              <a:buNone/>
            </a:pPr>
            <a:r>
              <a:rPr lang="en-US" sz="1600" dirty="0"/>
              <a:t>	b₁ = 1 - 0.1(4)</a:t>
            </a:r>
          </a:p>
          <a:p>
            <a:pPr marL="0" indent="0">
              <a:buNone/>
            </a:pPr>
            <a:r>
              <a:rPr lang="en-US" sz="1600" dirty="0"/>
              <a:t>	b₁ = 1 - 0.4= 0.6</a:t>
            </a:r>
          </a:p>
          <a:p>
            <a:pPr marL="0" indent="0">
              <a:buNone/>
            </a:pPr>
            <a:r>
              <a:rPr lang="en-US" sz="1600" dirty="0"/>
              <a:t>So: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>
                <a:highlight>
                  <a:srgbClr val="FFFF00"/>
                </a:highlight>
              </a:rPr>
              <a:t>next point = (0.4, 0.6)</a:t>
            </a:r>
          </a:p>
          <a:p>
            <a:pPr marL="400050" lvl="1" indent="0">
              <a:buNone/>
            </a:pPr>
            <a:endParaRPr lang="en-US" sz="1400" dirty="0">
              <a:latin typeface="Helvetica Neue" panose="02000503040000020004" pitchFamily="50" charset="-52"/>
            </a:endParaRPr>
          </a:p>
          <a:p>
            <a:pPr marL="0" indent="0">
              <a:buNone/>
            </a:pPr>
            <a:r>
              <a:rPr lang="en-US" sz="2000" dirty="0">
                <a:latin typeface="Helvetica Neue" panose="02000503040000020004" pitchFamily="50" charset="-52"/>
              </a:rPr>
              <a:t>Loss :   8      5.12 </a:t>
            </a:r>
            <a:r>
              <a:rPr lang="en-US" sz="1400" dirty="0">
                <a:latin typeface="Helvetica Neue" panose="02000503040000020004" pitchFamily="50" charset="-52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Helvetica Neue" panose="02000503040000020004" pitchFamily="50" charset="-52"/>
              </a:rPr>
              <a:t>(loss decreased)</a:t>
            </a:r>
          </a:p>
          <a:p>
            <a:pPr marL="0" indent="0">
              <a:buNone/>
            </a:pPr>
            <a:endParaRPr lang="en-US" sz="1400" dirty="0">
              <a:latin typeface="Helvetica Neue" panose="02000503040000020004" pitchFamily="50" charset="-52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CDEC17-08A7-CB4A-C9A9-344C606B5E0C}"/>
              </a:ext>
            </a:extLst>
          </p:cNvPr>
          <p:cNvCxnSpPr/>
          <p:nvPr/>
        </p:nvCxnSpPr>
        <p:spPr>
          <a:xfrm>
            <a:off x="5610364" y="790663"/>
            <a:ext cx="0" cy="21118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9464519-ADF6-E3E4-56DE-E0B452E1F11A}"/>
              </a:ext>
            </a:extLst>
          </p:cNvPr>
          <p:cNvSpPr txBox="1"/>
          <p:nvPr/>
        </p:nvSpPr>
        <p:spPr>
          <a:xfrm>
            <a:off x="5145906" y="1046358"/>
            <a:ext cx="388923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lvl="1" indent="0">
              <a:buNone/>
            </a:pPr>
            <a:r>
              <a:rPr lang="en-US" sz="1600" dirty="0"/>
              <a:t>         2nd loss    = (a - 2)² + (b + 1)²</a:t>
            </a:r>
          </a:p>
          <a:p>
            <a:pPr marL="400050" lvl="1" indent="0">
              <a:buNone/>
            </a:pPr>
            <a:r>
              <a:rPr lang="en-US" sz="1600" dirty="0"/>
              <a:t>                            = (0.4 - 2)² + (0.6 + 1)²</a:t>
            </a:r>
          </a:p>
          <a:p>
            <a:pPr marL="400050" lvl="1" indent="0">
              <a:buNone/>
            </a:pPr>
            <a:r>
              <a:rPr lang="en-US" sz="1600" dirty="0"/>
              <a:t>	                 = (-1.6)² + (1.6)²</a:t>
            </a:r>
          </a:p>
          <a:p>
            <a:pPr marL="400050" lvl="1" indent="0">
              <a:buNone/>
            </a:pPr>
            <a:r>
              <a:rPr lang="en-US" sz="1600" dirty="0"/>
              <a:t>                            = 2.56 + 2.56 = </a:t>
            </a:r>
            <a:r>
              <a:rPr lang="en-US" sz="1600" dirty="0">
                <a:highlight>
                  <a:srgbClr val="FFFF00"/>
                </a:highlight>
              </a:rPr>
              <a:t>5.12</a:t>
            </a:r>
          </a:p>
          <a:p>
            <a:r>
              <a:rPr lang="en-US" dirty="0"/>
              <a:t> 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EB16332-04DE-0117-95B0-860BA602DCE9}"/>
              </a:ext>
            </a:extLst>
          </p:cNvPr>
          <p:cNvCxnSpPr/>
          <p:nvPr/>
        </p:nvCxnSpPr>
        <p:spPr>
          <a:xfrm>
            <a:off x="3381829" y="4078513"/>
            <a:ext cx="26125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3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714</Words>
  <Application>Microsoft Office PowerPoint</Application>
  <PresentationFormat>On-screen Show (16:9)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Helvetica Neue</vt:lpstr>
      <vt:lpstr>Office Theme</vt:lpstr>
      <vt:lpstr>Gradient Descent  Updates</vt:lpstr>
      <vt:lpstr>One Parameter</vt:lpstr>
      <vt:lpstr>PowerPoint Presentation</vt:lpstr>
      <vt:lpstr>PowerPoint Presentation</vt:lpstr>
      <vt:lpstr>Two Parameter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Mc114</cp:lastModifiedBy>
  <cp:revision>5</cp:revision>
  <dcterms:created xsi:type="dcterms:W3CDTF">2017-08-01T15:40:51Z</dcterms:created>
  <dcterms:modified xsi:type="dcterms:W3CDTF">2026-09-03T09:57:25Z</dcterms:modified>
</cp:coreProperties>
</file>